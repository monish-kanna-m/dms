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335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448" r:id="rId32"/>
    <p:sldId id="449" r:id="rId33"/>
    <p:sldId id="452" r:id="rId34"/>
    <p:sldId id="451" r:id="rId35"/>
    <p:sldId id="36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D04C-5AFF-BA6F-4F3F-7911C743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57227-D107-6C2F-91CD-63DADFED7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D9531-195B-48A8-3C16-F886CA762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13C41-EA22-590A-8CC1-DB23B323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F895-86B9-8CC4-F213-84B4651B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1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18E0-CCE2-56EA-7D55-39F21233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7782-18AF-3AD7-16BC-6CA72863A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C59D5-6415-604F-FD72-CA442C87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7E325-B5FD-C6DF-8B63-902AFA0D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A34B2-9DD7-4D0E-96DB-68B00AD0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28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BD8E-5B4D-12AA-49C1-F26129B0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D6781-E208-26C8-D9FB-D0327C0EE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CEA48-DCED-9BED-D0BC-82D32263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B29AA-84A0-0E61-554C-F085624A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96622-9C99-C05C-055A-28548C8D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46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02F6-F54F-E7DD-5765-9F3EFB7B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C6619-605F-29D3-DC90-A4865C77A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2F8D4-0239-1119-F905-66B1F55BA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AE496-CA54-666E-96FC-70DCC924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70DAB-8625-0B19-AB44-FBC9680A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6C5B6-361C-EFA4-447B-E82F0B0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CDE1-828E-6B66-8AB9-F68BF7ED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363A7-2D09-F782-FBFF-7DEF5BAE6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59294-32F6-A888-8F84-8D73A3E66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C5B71-8EE1-A5A6-201E-63C11C33A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4043C0-C38A-D6A7-A0D0-A01B2C006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89536-AD97-4092-DE0F-278F4B9C7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F8249-0C13-CE90-F2DD-1731419B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11BC0-F9C2-D057-8352-C3918756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4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3481-3FB4-F4E5-29EC-DD13AAAE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9A736-1D8A-3800-2FB5-18E6269D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583DC-5645-7FC1-0BC2-51A06DB6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D6E5A2-F826-8759-584C-49AA379A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31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0A2B6D-A010-D7F8-20ED-5C3D325EB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1D6B8-9244-E784-D1F6-DC732280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16253-620F-E751-B1D8-6ACDC76D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72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8C4C-284C-76FB-A22B-4888FEEA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3725E-7A35-451C-2651-6B2C983E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E01CB-5450-1308-8497-EC05D18B4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FB66E-A079-A52F-43ED-D54CAE33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29EFF-F45F-2EDA-E9CF-733DC827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6FA79-DF0E-CC55-B195-21DB242A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10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DC73-FB5B-F93F-2525-5848CA44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FD9F-3113-E6A2-4F9F-2A0D12781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98A80-11C1-5B71-F9CC-8C9F8D013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F4B01-7B94-0EB0-0E00-0DD7F5986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7C3FE-B062-2278-25FE-D5899F19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97F42-8A43-8AC3-BFCC-03E6457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84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AC06-E9A2-13F2-A948-F5F69702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C435F-4B15-2211-7391-F43FDDE0B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FCB6C-F055-7BF6-B03D-1183CA5E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22063-C3BA-4491-6F20-F36EFAB5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F07CD-6E65-1E08-3957-CA4941C3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26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B7C73-01E3-B090-4392-48317E7C4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F9ACC-3CB8-631E-7EDA-6A3C0E2C6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626CC-9793-673F-3D7F-81CFE561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F52A0-494E-8F74-E6A5-5442405F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90A51-F205-76DD-C934-8959624D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79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6D7A0-8CA3-CE0A-B47D-880C0D04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2E5CC-D749-A62F-4FB5-1AD59DF1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881A3-3038-8518-F94F-19B5900AB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DE01B-CBDB-4B72-86A2-3C8A0714E9EC}" type="datetimeFigureOut">
              <a:rPr lang="en-IN" smtClean="0"/>
              <a:t>21-04-2024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316C5-4B60-D6C0-1B87-99787308C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DF17B-F9D8-16A5-1F68-6DC8462DB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FE1EA-D165-4C30-B315-6AB362D3F5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88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C68C070-7964-21A3-0E6E-A336B8B62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296" y="2167847"/>
            <a:ext cx="11775440" cy="4027470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+mn-lt"/>
              </a:rPr>
              <a:t>APPLICATIONS TEXT PROCESSING</a:t>
            </a:r>
            <a:br>
              <a:rPr lang="en-IN" sz="4800" b="1" dirty="0">
                <a:solidFill>
                  <a:srgbClr val="FF0000"/>
                </a:solidFill>
                <a:latin typeface="+mn-lt"/>
              </a:rPr>
            </a:br>
            <a:r>
              <a:rPr lang="en-IN" sz="4800" b="1" dirty="0">
                <a:solidFill>
                  <a:srgbClr val="FF0000"/>
                </a:solidFill>
                <a:latin typeface="+mn-lt"/>
              </a:rPr>
              <a:t>String Algorithms</a:t>
            </a:r>
            <a:br>
              <a:rPr lang="en-IN" sz="4800" b="1" dirty="0">
                <a:solidFill>
                  <a:srgbClr val="FF0000"/>
                </a:solidFill>
                <a:latin typeface="+mn-lt"/>
              </a:rPr>
            </a:br>
            <a:r>
              <a:rPr lang="en-IN" sz="4800" b="1" dirty="0">
                <a:solidFill>
                  <a:srgbClr val="FF0000"/>
                </a:solidFill>
                <a:latin typeface="+mn-lt"/>
              </a:rPr>
              <a:t>Naïve Algorithm, Rabin Karp </a:t>
            </a:r>
            <a:r>
              <a:rPr lang="en-IN" sz="4800" b="1" dirty="0" err="1">
                <a:solidFill>
                  <a:srgbClr val="FF0000"/>
                </a:solidFill>
                <a:latin typeface="+mn-lt"/>
              </a:rPr>
              <a:t>Algorithm,KMP</a:t>
            </a:r>
            <a:r>
              <a:rPr lang="en-IN" sz="4800" b="1" dirty="0">
                <a:solidFill>
                  <a:srgbClr val="FF0000"/>
                </a:solidFill>
                <a:latin typeface="+mn-lt"/>
              </a:rPr>
              <a:t> Algorithm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E6CB2-025A-0E84-1308-70438688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8C0-88E8-47F0-8490-E3D3FF7966E2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0A0B34-E6A7-B17A-ACB5-CA12BE4D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AAB2C6-44B0-CBE6-3EAC-FFAD67D9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C5A41-0400-EF32-6127-8761833CA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9"/>
            <a:ext cx="12192000" cy="297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3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B050"/>
                </a:solidFill>
                <a:effectLst/>
              </a:rPr>
              <a:t>The Naive String Matching Algorithm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0070C0"/>
                </a:solidFill>
                <a:effectLst/>
              </a:rPr>
              <a:t>The naïve approach tests all the possible placement of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Pattern P [1.......m] </a:t>
            </a:r>
            <a:r>
              <a:rPr lang="en-US" sz="2400" b="0" i="0" dirty="0">
                <a:solidFill>
                  <a:srgbClr val="0070C0"/>
                </a:solidFill>
                <a:effectLst/>
              </a:rPr>
              <a:t>relative to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text T [1......n]. </a:t>
            </a:r>
            <a:r>
              <a:rPr lang="en-US" sz="2400" b="0" i="0" dirty="0">
                <a:solidFill>
                  <a:srgbClr val="0070C0"/>
                </a:solidFill>
                <a:effectLst/>
              </a:rPr>
              <a:t>We try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shift s = 0, 1.......n-m</a:t>
            </a:r>
            <a:r>
              <a:rPr lang="en-US" sz="2400" b="0" i="0" dirty="0">
                <a:solidFill>
                  <a:srgbClr val="0070C0"/>
                </a:solidFill>
                <a:effectLst/>
              </a:rPr>
              <a:t>, successively and for each shift s. Compare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T [s+1.......</a:t>
            </a:r>
            <a:r>
              <a:rPr lang="en-US" sz="2400" b="0" i="0" dirty="0" err="1">
                <a:solidFill>
                  <a:srgbClr val="FF0000"/>
                </a:solidFill>
                <a:effectLst/>
              </a:rPr>
              <a:t>s+m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] to P [1......m].</a:t>
            </a:r>
          </a:p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0070C0"/>
                </a:solidFill>
                <a:effectLst/>
              </a:rPr>
              <a:t>The naïve algorithm finds all valid shifts using a loop that checks the condition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P [1.......m] = T [s+1.......</a:t>
            </a:r>
            <a:r>
              <a:rPr lang="en-US" sz="2400" b="0" i="0" dirty="0" err="1">
                <a:solidFill>
                  <a:srgbClr val="FF0000"/>
                </a:solidFill>
                <a:effectLst/>
              </a:rPr>
              <a:t>s+m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]</a:t>
            </a:r>
            <a:r>
              <a:rPr lang="en-US" sz="2400" b="0" i="0" dirty="0">
                <a:solidFill>
                  <a:srgbClr val="0070C0"/>
                </a:solidFill>
                <a:effectLst/>
              </a:rPr>
              <a:t> for each of the n - m +1 possible value of s.</a:t>
            </a:r>
            <a:endParaRPr lang="en-IN" sz="24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414B6-F296-BD90-B71F-DBD6C3BE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CE5E1-894A-3ADD-5C32-0FF8B2D7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A2DB-4A5A-4960-A21F-10E416189F71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D13EE9-50D3-A38E-D543-6B5BC724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705191-A02E-469A-43F2-CC88FF6F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141877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775"/>
            <a:ext cx="10515600" cy="527218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NAIVE-STRING-MATCHER (T, P)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1. n ← length [T]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2. m ← length [P]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3. for s ← 0 to n -m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4. do if P [1.....m] = T [s + 1....s + m]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5. then print "Pattern occurs with shift" s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07B13-C9DB-8279-B63E-49CD7A37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379E5-5AB2-D511-F2E4-A8B7ED52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2C1A-BE6E-4AAB-8646-082929BC1134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FC785E-6E3C-4ECD-0BFD-9D3C619E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3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705E09-A544-3A57-0C9E-A06083EF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204918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5C7A40-D64D-529B-38C3-8685BC93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C3A65-39CD-776D-F61E-CFF740BC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B945A-3890-41EF-984A-A74B2F8DCA3A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8E5DE6-67FF-14AF-8849-A46EFCFF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4</a:t>
            </a:fld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567141-093D-395A-B2E1-06B89056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C4CAD2-6CB7-0B18-5706-51AF83940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76FA76-26AD-8114-34FD-7070777F3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179" y="368272"/>
            <a:ext cx="7844587" cy="593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8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01098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EXAMPLE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sz="3200" b="1" dirty="0">
                <a:solidFill>
                  <a:srgbClr val="00B050"/>
                </a:solidFill>
              </a:rPr>
              <a:t>Suppose </a:t>
            </a:r>
            <a:r>
              <a:rPr lang="en-US" sz="3200" b="1" dirty="0">
                <a:solidFill>
                  <a:srgbClr val="FF0000"/>
                </a:solidFill>
              </a:rPr>
              <a:t>T = 1011101110 </a:t>
            </a:r>
            <a:r>
              <a:rPr lang="en-US" sz="3200" b="1" dirty="0">
                <a:solidFill>
                  <a:srgbClr val="00B050"/>
                </a:solidFill>
              </a:rPr>
              <a:t>,</a:t>
            </a:r>
            <a:r>
              <a:rPr lang="en-US" sz="3200" b="1" dirty="0">
                <a:solidFill>
                  <a:srgbClr val="FF0000"/>
                </a:solidFill>
              </a:rPr>
              <a:t>P = 111  </a:t>
            </a:r>
            <a:r>
              <a:rPr lang="en-US" sz="3200" b="1" dirty="0">
                <a:solidFill>
                  <a:srgbClr val="00B050"/>
                </a:solidFill>
              </a:rPr>
              <a:t>Find all the Valid Shift </a:t>
            </a:r>
            <a:endParaRPr lang="en-IN" sz="3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0695"/>
            <a:ext cx="10515600" cy="362626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F0202-ACD5-7286-1937-6881B95F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ED520-D608-4649-8F1F-FECCD3D4ABA5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19751C-DFFA-7AA6-9090-DA6DC3BBC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8A6128D-0947-4574-4737-56C03EF2E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41A146-8547-8F39-1E9F-A85F46A2E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398" y="1420099"/>
            <a:ext cx="6769448" cy="478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9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9283D-52EB-6E85-3F4F-601F51B1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A39F4-E9E9-DE90-5A7D-F0E4D4CF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3236-A643-4763-8AB4-DB067E8C41B1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AEDC96-FB4D-CDE2-F055-33CB82F7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B3A9B4-C0A6-213F-A11F-C6B8F0B5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53BC42-D816-BEDA-FC23-CA80C6EB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593" y="365125"/>
            <a:ext cx="8628718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7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414B6-F296-BD90-B71F-DBD6C3BE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86D19-E821-9294-7C41-21365DD1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0F517-2F63-41D0-B2AF-79B0C862A706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AB0B20-0D7F-5C84-E465-D6CA56AF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7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638ACE5-E147-FDB3-83C9-DEA0A1B1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77C7F9-3407-A774-A66D-DBDB8A9E3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11" y="779646"/>
            <a:ext cx="10665162" cy="52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6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Rabin Karp Algorithm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chemeClr val="accent1"/>
                </a:solidFill>
                <a:effectLst/>
              </a:rPr>
              <a:t>The </a:t>
            </a:r>
            <a:r>
              <a:rPr lang="en-US" sz="2400" b="0" i="0" dirty="0">
                <a:solidFill>
                  <a:srgbClr val="FA40D7"/>
                </a:solidFill>
                <a:effectLst/>
              </a:rPr>
              <a:t>Rabin-Karp string matching algorithm </a:t>
            </a:r>
            <a:r>
              <a:rPr lang="en-US" sz="2400" b="0" i="0" dirty="0">
                <a:solidFill>
                  <a:schemeClr val="accent1"/>
                </a:solidFill>
                <a:effectLst/>
              </a:rPr>
              <a:t>calculates </a:t>
            </a:r>
            <a:r>
              <a:rPr lang="en-US" sz="2400" b="1" i="0" dirty="0">
                <a:solidFill>
                  <a:srgbClr val="FA40D7"/>
                </a:solidFill>
                <a:effectLst/>
              </a:rPr>
              <a:t>a hash value for the pattern</a:t>
            </a:r>
            <a:r>
              <a:rPr lang="en-US" sz="2400" b="0" i="0" dirty="0">
                <a:solidFill>
                  <a:schemeClr val="accent1"/>
                </a:solidFill>
                <a:effectLst/>
              </a:rPr>
              <a:t>, as well as for each </a:t>
            </a:r>
            <a:r>
              <a:rPr lang="en-US" sz="2400" b="0" i="0" dirty="0">
                <a:solidFill>
                  <a:srgbClr val="FA40D7"/>
                </a:solidFill>
                <a:effectLst/>
              </a:rPr>
              <a:t>M-character</a:t>
            </a:r>
            <a:r>
              <a:rPr lang="en-US" sz="2400" b="0" i="0" dirty="0">
                <a:solidFill>
                  <a:schemeClr val="accent1"/>
                </a:solidFill>
                <a:effectLst/>
              </a:rPr>
              <a:t> subsequences of text to be compared.</a:t>
            </a:r>
          </a:p>
          <a:p>
            <a:pPr algn="just">
              <a:lnSpc>
                <a:spcPct val="150000"/>
              </a:lnSpc>
            </a:pPr>
            <a:r>
              <a:rPr lang="en-US" sz="24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US" sz="2400" b="1" i="0" dirty="0">
                <a:solidFill>
                  <a:srgbClr val="00B050"/>
                </a:solidFill>
                <a:effectLst/>
              </a:rPr>
              <a:t>If the hash values are unequal</a:t>
            </a:r>
            <a:r>
              <a:rPr lang="en-US" sz="2400" b="0" i="0" dirty="0">
                <a:solidFill>
                  <a:schemeClr val="accent1"/>
                </a:solidFill>
                <a:effectLst/>
              </a:rPr>
              <a:t>, the algorithm will determine the hash value for next M-character sequence. </a:t>
            </a:r>
          </a:p>
          <a:p>
            <a:pPr algn="just">
              <a:lnSpc>
                <a:spcPct val="150000"/>
              </a:lnSpc>
            </a:pPr>
            <a:r>
              <a:rPr lang="en-US" sz="2400" b="1" i="0" dirty="0">
                <a:solidFill>
                  <a:srgbClr val="00B050"/>
                </a:solidFill>
                <a:effectLst/>
              </a:rPr>
              <a:t>If the hash values are equal</a:t>
            </a:r>
            <a:r>
              <a:rPr lang="en-US" sz="2400" b="0" i="0" dirty="0">
                <a:solidFill>
                  <a:schemeClr val="accent1"/>
                </a:solidFill>
                <a:effectLst/>
              </a:rPr>
              <a:t>, the algorithm will analyze the pattern and the M-character sequence.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07B13-C9DB-8279-B63E-49CD7A37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F65CA-CCF8-C012-11C0-B2429FE5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C95D-D622-4621-84AB-06370F16C63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886645-4BCD-05FD-34D4-2B8BC0B7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8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7F479A1-3C14-C0C8-EA08-7D8FBB6B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87120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4518"/>
            <a:ext cx="10515600" cy="5522445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RABIN-KARP-MATCHER (T, P, d, q)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1. n ← length [T]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2. m  ← length [P]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3. h  ←  dm-1 mod q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4. p ←  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5. t0 ←  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6. for </a:t>
            </a:r>
            <a:r>
              <a:rPr lang="en-IN" dirty="0" err="1">
                <a:solidFill>
                  <a:schemeClr val="accent1"/>
                </a:solidFill>
              </a:rPr>
              <a:t>i</a:t>
            </a:r>
            <a:r>
              <a:rPr lang="en-IN" dirty="0">
                <a:solidFill>
                  <a:schemeClr val="accent1"/>
                </a:solidFill>
              </a:rPr>
              <a:t> ← 1 to m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7. do p ←  (</a:t>
            </a:r>
            <a:r>
              <a:rPr lang="en-IN" dirty="0" err="1">
                <a:solidFill>
                  <a:schemeClr val="accent1"/>
                </a:solidFill>
              </a:rPr>
              <a:t>dp</a:t>
            </a:r>
            <a:r>
              <a:rPr lang="en-IN" dirty="0">
                <a:solidFill>
                  <a:schemeClr val="accent1"/>
                </a:solidFill>
              </a:rPr>
              <a:t> + P[</a:t>
            </a:r>
            <a:r>
              <a:rPr lang="en-IN" dirty="0" err="1">
                <a:solidFill>
                  <a:schemeClr val="accent1"/>
                </a:solidFill>
              </a:rPr>
              <a:t>i</a:t>
            </a:r>
            <a:r>
              <a:rPr lang="en-IN" dirty="0">
                <a:solidFill>
                  <a:schemeClr val="accent1"/>
                </a:solidFill>
              </a:rPr>
              <a:t>]) mod q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8. t0 ← (dt0+T [</a:t>
            </a:r>
            <a:r>
              <a:rPr lang="en-IN" dirty="0" err="1">
                <a:solidFill>
                  <a:schemeClr val="accent1"/>
                </a:solidFill>
              </a:rPr>
              <a:t>i</a:t>
            </a:r>
            <a:r>
              <a:rPr lang="en-IN" dirty="0">
                <a:solidFill>
                  <a:schemeClr val="accent1"/>
                </a:solidFill>
              </a:rPr>
              <a:t>]) mod q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9. for s  ←  0 to n-m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10. do if p = </a:t>
            </a:r>
            <a:r>
              <a:rPr lang="en-IN" dirty="0" err="1">
                <a:solidFill>
                  <a:schemeClr val="accent1"/>
                </a:solidFill>
              </a:rPr>
              <a:t>ts</a:t>
            </a:r>
            <a:endParaRPr lang="en-IN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11. then if P [1.....m] = T [s+1.....s + m]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12. then "Pattern occurs with shift" 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13. If s &lt; n-m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14. then ts+1 ←  (d (</a:t>
            </a:r>
            <a:r>
              <a:rPr lang="en-IN" dirty="0" err="1">
                <a:solidFill>
                  <a:schemeClr val="accent1"/>
                </a:solidFill>
              </a:rPr>
              <a:t>ts</a:t>
            </a:r>
            <a:r>
              <a:rPr lang="en-IN" dirty="0">
                <a:solidFill>
                  <a:schemeClr val="accent1"/>
                </a:solidFill>
              </a:rPr>
              <a:t>-T [s+1]h)+T [s+m+1])mod q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C7A40-D64D-529B-38C3-8685BC93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710DB-F34D-A28B-B0A5-BFC8715F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4DFB9-AC72-404D-8104-BC8A93872C49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294FDE-1FE6-C3FB-376F-1ADB0AC6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9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BF85CB3-AE2A-8AA7-DEEF-9FEE9702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29792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9903594" cy="163358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B050"/>
                </a:solidFill>
              </a:rPr>
              <a:t>EXAMPLE:</a:t>
            </a:r>
            <a:br>
              <a:rPr lang="en-US" sz="2800" b="1" dirty="0">
                <a:solidFill>
                  <a:srgbClr val="00B050"/>
                </a:solidFill>
              </a:rPr>
            </a:br>
            <a:r>
              <a:rPr lang="en-US" sz="2800" b="1" i="0" dirty="0">
                <a:solidFill>
                  <a:srgbClr val="00B050"/>
                </a:solidFill>
                <a:effectLst/>
                <a:latin typeface="inter-regular"/>
              </a:rPr>
              <a:t>For string matching, working module q = 11, how many spurious hits does the Rabin-Karp matcher encounters in Text T = 31415926535.......</a:t>
            </a:r>
            <a:endParaRPr lang="en-IN" sz="28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0" i="0" dirty="0">
                <a:solidFill>
                  <a:srgbClr val="0070C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A20EA6"/>
                </a:solidFill>
                <a:effectLst/>
                <a:latin typeface="inter-regular"/>
              </a:rPr>
              <a:t>T = 31415926535....... 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0" dirty="0">
                <a:solidFill>
                  <a:srgbClr val="0070C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B0F0"/>
                </a:solidFill>
                <a:effectLst/>
                <a:latin typeface="inter-regular"/>
              </a:rPr>
              <a:t> P = 26 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0" i="0" dirty="0">
                <a:solidFill>
                  <a:srgbClr val="0070C0"/>
                </a:solidFill>
                <a:effectLst/>
                <a:latin typeface="inter-regular"/>
              </a:rPr>
              <a:t> Here </a:t>
            </a:r>
            <a:r>
              <a:rPr lang="en-US" b="1" i="0" dirty="0" err="1">
                <a:effectLst/>
                <a:latin typeface="inter-regular"/>
              </a:rPr>
              <a:t>T.Length</a:t>
            </a:r>
            <a:r>
              <a:rPr lang="en-US" b="1" i="0" dirty="0">
                <a:effectLst/>
                <a:latin typeface="inter-regular"/>
              </a:rPr>
              <a:t> =11 so Q = 11     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0" i="0" dirty="0">
                <a:solidFill>
                  <a:srgbClr val="0070C0"/>
                </a:solidFill>
                <a:effectLst/>
                <a:latin typeface="inter-regular"/>
              </a:rPr>
              <a:t> And </a:t>
            </a:r>
            <a:r>
              <a:rPr lang="en-US" b="1" i="0" dirty="0">
                <a:solidFill>
                  <a:srgbClr val="FF0000"/>
                </a:solidFill>
                <a:effectLst/>
                <a:latin typeface="inter-regular"/>
              </a:rPr>
              <a:t>P mod Q = 26 mod 11 = 4 </a:t>
            </a:r>
            <a:r>
              <a:rPr lang="en-US" b="1" i="0" dirty="0">
                <a:solidFill>
                  <a:srgbClr val="0070C0"/>
                </a:solidFill>
                <a:effectLst/>
                <a:latin typeface="inter-regular"/>
              </a:rPr>
              <a:t>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0" i="0" dirty="0">
                <a:solidFill>
                  <a:srgbClr val="0070C0"/>
                </a:solidFill>
                <a:effectLst/>
                <a:latin typeface="inter-regular"/>
              </a:rPr>
              <a:t>Now find the exact match of P mod Q... 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701" y="12647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56F708-27BA-DCD7-41AC-673F1ECAB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85829-1B4F-42BB-BC24-2DC775F5FA21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329EF7-F199-4806-1A59-4E802EFF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10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35D4747-C705-7804-40AC-DA5A5A8B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189279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9283D-52EB-6E85-3F4F-601F51B1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6D265-D5FF-40B9-180C-129DB03B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BBA6-43DE-4D6D-B634-1C0299C0F9E8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C5B0C85-C2BD-CD51-F17F-5B110F30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11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BDA143-EC67-AD4F-D983-7081493D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66BE71-A7AD-1A19-E856-138938FD8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430" y="454819"/>
            <a:ext cx="939314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8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414B6-F296-BD90-B71F-DBD6C3BE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9EBA2-3D90-5746-1F87-21AB5899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8045-BCFE-460D-950C-08D94C5F2277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444AA5-C98D-1AD3-212B-17D43AC6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12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D8C5F6C-F72E-4551-578D-B8E32D63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FEE08-33C9-A277-1183-55DCB767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69" y="681038"/>
            <a:ext cx="10502892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71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07B13-C9DB-8279-B63E-49CD7A37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B826C9-9474-BCE7-6694-22803998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6B07-4E97-4CB9-BBB5-B4809E535F3B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2A9EC4-C707-17BB-1539-5DADFE09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13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D50AA-FE8F-71FA-A2F5-FBFF2F06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E16723-0A14-3CB8-7DF5-865D98827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4734"/>
            <a:ext cx="9816966" cy="595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97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C7A40-D64D-529B-38C3-8685BC93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72049-26DB-3B4E-CCF6-5012EB76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AF06-0161-4A3D-9A38-1E97DE98E63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82C32B9-B52B-808F-25E0-CBC5F7B4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14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80E95E0-BFB5-75AA-5A4C-4FCB2E6A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76CE11-5290-7065-D24F-D020467C2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06" y="1087656"/>
            <a:ext cx="10795587" cy="27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24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CD7C6-38CE-2336-AD09-CC4705DE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236E5-387E-4338-A54A-6E43B564B2DE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1C3594-07AD-19B3-1FAD-B7273D9E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168E7F-1022-5A28-B245-854ACF9E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E20B67-D177-067C-B2E4-87FDAF463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5623006" cy="58118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632AD6-0ECC-5D59-D574-425563762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206" y="2589029"/>
            <a:ext cx="5169166" cy="358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28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B050"/>
                </a:solidFill>
                <a:effectLst/>
                <a:latin typeface="erdana"/>
              </a:rPr>
              <a:t>Knuth-Morris-Pratt (KMP)</a:t>
            </a:r>
            <a:r>
              <a:rPr lang="en-IN" b="1" dirty="0">
                <a:solidFill>
                  <a:srgbClr val="00B050"/>
                </a:solidFill>
              </a:rPr>
              <a:t> Algorithm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070C0"/>
                </a:solidFill>
                <a:effectLst/>
                <a:latin typeface="inter-regular"/>
              </a:rPr>
              <a:t>Knuth-Morris and Pratt introduce a </a:t>
            </a:r>
            <a:r>
              <a:rPr lang="en-US" b="0" i="0" dirty="0">
                <a:solidFill>
                  <a:srgbClr val="FA40D7"/>
                </a:solidFill>
                <a:effectLst/>
                <a:latin typeface="inter-regular"/>
              </a:rPr>
              <a:t>linear time algorithm for the string matching problem.</a:t>
            </a:r>
            <a:endParaRPr lang="en-IN" dirty="0">
              <a:solidFill>
                <a:srgbClr val="FA40D7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9283D-52EB-6E85-3F4F-601F51B1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0E23F-6BCB-75C9-40FE-F673776C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511EA-35DA-45A2-92AC-FDD30F9913CE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471B42-EF9C-3D37-494C-62DB8EEB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982D12-4448-B975-428C-8637D877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5979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B050"/>
                </a:solidFill>
                <a:effectLst/>
                <a:latin typeface="erdana"/>
              </a:rPr>
              <a:t>Components of KMP Algorithm: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016"/>
            <a:ext cx="10515600" cy="47293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inter-bold"/>
              </a:rPr>
              <a:t>1. </a:t>
            </a:r>
            <a:r>
              <a:rPr lang="en-US" sz="2400" b="1" i="0" dirty="0">
                <a:solidFill>
                  <a:srgbClr val="FA40D7"/>
                </a:solidFill>
                <a:effectLst/>
                <a:latin typeface="inter-bold"/>
              </a:rPr>
              <a:t>The Prefix Function (Π)</a:t>
            </a:r>
            <a:r>
              <a:rPr lang="en-US" sz="2400" b="0" i="0" dirty="0">
                <a:solidFill>
                  <a:srgbClr val="FA40D7"/>
                </a:solidFill>
                <a:effectLst/>
                <a:latin typeface="inter-regular"/>
              </a:rPr>
              <a:t> </a:t>
            </a:r>
            <a:endParaRPr lang="en-US" sz="2400" b="0" i="0" dirty="0">
              <a:solidFill>
                <a:srgbClr val="FF0000"/>
              </a:solidFill>
              <a:effectLst/>
              <a:latin typeface="inter-regular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i="0" dirty="0">
                <a:solidFill>
                  <a:srgbClr val="0070C0"/>
                </a:solidFill>
                <a:effectLst/>
                <a:latin typeface="inter-bold"/>
              </a:rPr>
              <a:t>2. </a:t>
            </a:r>
            <a:r>
              <a:rPr lang="en-US" sz="2400" b="1" i="0" dirty="0">
                <a:solidFill>
                  <a:srgbClr val="FA40D7"/>
                </a:solidFill>
                <a:effectLst/>
                <a:latin typeface="inter-bold"/>
              </a:rPr>
              <a:t>The KMP Matcher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414B6-F296-BD90-B71F-DBD6C3BE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6839"/>
            <a:ext cx="1162675" cy="162017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F88EA-6EB7-17C6-1209-D69340A4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AD532-09A6-4D76-9CAF-AA6CA40B5382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1E9C25-017A-E17A-4C6B-7DAC8DEB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17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AD29ACC-A6A6-1C90-0A1F-1A88A55A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78780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B050"/>
                </a:solidFill>
                <a:effectLst/>
                <a:latin typeface="erdana"/>
              </a:rPr>
              <a:t>The Prefix Function (</a:t>
            </a:r>
            <a:r>
              <a:rPr lang="el-GR" b="0" i="0" dirty="0">
                <a:solidFill>
                  <a:srgbClr val="00B050"/>
                </a:solidFill>
                <a:effectLst/>
                <a:latin typeface="erdana"/>
              </a:rPr>
              <a:t>Π)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541"/>
            <a:ext cx="10515600" cy="467542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COMPUTE- PREFIX- FUNCTION (P)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1. m ←length [P]		//'p' pattern to be matched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2. </a:t>
            </a:r>
            <a:r>
              <a:rPr lang="el-GR" dirty="0">
                <a:solidFill>
                  <a:srgbClr val="0070C0"/>
                </a:solidFill>
              </a:rPr>
              <a:t>Π [1] ← 0</a:t>
            </a:r>
          </a:p>
          <a:p>
            <a:pPr marL="0" indent="0">
              <a:buNone/>
            </a:pPr>
            <a:r>
              <a:rPr lang="el-GR" dirty="0">
                <a:solidFill>
                  <a:srgbClr val="0070C0"/>
                </a:solidFill>
              </a:rPr>
              <a:t> 3. </a:t>
            </a:r>
            <a:r>
              <a:rPr lang="en-IN" dirty="0">
                <a:solidFill>
                  <a:srgbClr val="0070C0"/>
                </a:solidFill>
              </a:rPr>
              <a:t>k ← 0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4. for q ← 2 to m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5. do while k &gt; 0 and P [k + 1] ≠ P [q]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6. do k ← </a:t>
            </a:r>
            <a:r>
              <a:rPr lang="el-GR" dirty="0">
                <a:solidFill>
                  <a:srgbClr val="0070C0"/>
                </a:solidFill>
              </a:rPr>
              <a:t>Π [</a:t>
            </a:r>
            <a:r>
              <a:rPr lang="en-IN" dirty="0">
                <a:solidFill>
                  <a:srgbClr val="0070C0"/>
                </a:solidFill>
              </a:rPr>
              <a:t>k]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7. If P [k + 1] = P [q]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8. then k← k + 1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9. </a:t>
            </a:r>
            <a:r>
              <a:rPr lang="el-GR" dirty="0">
                <a:solidFill>
                  <a:srgbClr val="0070C0"/>
                </a:solidFill>
              </a:rPr>
              <a:t>Π [</a:t>
            </a:r>
            <a:r>
              <a:rPr lang="en-IN" dirty="0">
                <a:solidFill>
                  <a:srgbClr val="0070C0"/>
                </a:solidFill>
              </a:rPr>
              <a:t>q] ← k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10. Return </a:t>
            </a:r>
            <a:r>
              <a:rPr lang="el-GR" dirty="0">
                <a:solidFill>
                  <a:srgbClr val="0070C0"/>
                </a:solidFill>
              </a:rPr>
              <a:t>Π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07B13-C9DB-8279-B63E-49CD7A37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191D3-70FE-104C-11FF-1EC2D08C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3520-1D8A-48AE-9C5E-C5F2FD9940AB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D1951-BC21-28D0-1A13-4772B756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18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7F2287C-2CA2-62A4-95BA-A2C4B6DC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814309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9970971" cy="1325563"/>
          </a:xfrm>
        </p:spPr>
        <p:txBody>
          <a:bodyPr/>
          <a:lstStyle/>
          <a:p>
            <a:r>
              <a:rPr lang="en-US" b="1" i="0" dirty="0">
                <a:solidFill>
                  <a:srgbClr val="00B050"/>
                </a:solidFill>
                <a:effectLst/>
                <a:latin typeface="inter-bold"/>
              </a:rPr>
              <a:t>Example:</a:t>
            </a:r>
            <a:br>
              <a:rPr lang="en-US" b="1" i="0" dirty="0">
                <a:solidFill>
                  <a:srgbClr val="00B050"/>
                </a:solidFill>
                <a:effectLst/>
                <a:latin typeface="inter-bold"/>
              </a:rPr>
            </a:br>
            <a:r>
              <a:rPr lang="en-US" b="0" i="0" dirty="0">
                <a:solidFill>
                  <a:srgbClr val="00B050"/>
                </a:solidFill>
                <a:effectLst/>
                <a:latin typeface="inter-regular"/>
              </a:rPr>
              <a:t>Compute Π for the pattern 'p' below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2193"/>
            <a:ext cx="10515600" cy="366476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</a:rPr>
              <a:t>Initially: m = length [p] = 7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</a:rPr>
              <a:t>	    Π [1] = 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</a:rPr>
              <a:t>	    k = 0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C7A40-D64D-529B-38C3-8685BC93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AAFF4-79FE-A243-FD53-D5AE69CA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E838-3051-4108-8D6B-115CAD14A1C4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B6A15D-C383-815F-CFD8-397D73AD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19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9BF2C4-F608-AD67-E913-CEC719E9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589F2D-F1D0-BB38-3BE1-D76BCA3FA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23633"/>
            <a:ext cx="10515599" cy="8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06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BB5B7-0D34-628E-D8E1-E42FFE87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A9092-3BE1-4E5D-BD62-0C764F0B1D38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52142C-E53E-D769-E9E9-35A61E2E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20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8EF1ABD-950C-AF34-2EA8-CE44466E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F7871B-1588-EDC6-D57F-0766657CD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533" y="446966"/>
            <a:ext cx="8032933" cy="577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40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9283D-52EB-6E85-3F4F-601F51B1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4F01B-8D23-5328-FCA1-659187C1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1AD5D-1FC3-4BCE-AC20-7D23EADB485E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056BAA-C347-8215-5903-76DAE594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21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7D4AC09-9903-F5EC-B02A-2086053E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03D811-5A95-5513-75BE-311570F06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44" y="454357"/>
            <a:ext cx="8057511" cy="587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20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414B6-F296-BD90-B71F-DBD6C3BE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3212A-6309-82C9-7C00-18DEDB66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33DD7-3706-4EC0-B72E-2C1756A33C2F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4D8A15-1318-59D7-D6DC-7136FEB4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22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E8D2ED2-3701-AB98-8388-E18B57C2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F79D08-6E2A-04F9-B385-BDDE73FA9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18" y="462734"/>
            <a:ext cx="10185633" cy="197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1FF693-FB0C-805E-D6AF-7F6884EA1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469" y="1516643"/>
            <a:ext cx="367179" cy="25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41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B050"/>
                </a:solidFill>
                <a:effectLst/>
                <a:latin typeface="erdana"/>
              </a:rPr>
              <a:t>The KMP Matcher: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1. n ← length [T]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2. m ← length [P]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3. Π← COMPUTE-PREFIX-FUNCTION (P)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4. q ← 0		// numbers of characters matched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5. for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← 1 to n	// scan S from left to right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6. do while q &gt; 0 and P [q + 1] ≠ T 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7. do q ← Π [q]		// next character does not match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8. If P [q + 1] = T 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9. then q ← q + 1		// next character matches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10. If q = m			           // is all of p matched?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11. then print "Pattern occurs with shift"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- m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12. q ← Π [q]				// look for the next match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07B13-C9DB-8279-B63E-49CD7A37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32535-DC3D-A711-D36B-20E36025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D39BD-D55F-4087-8D44-1473BA08AC9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D611B5-8511-B8E1-6048-AF40BE88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23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FF9515-9E2E-201E-C8E4-248BF2BE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3824729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0503"/>
            <a:ext cx="10515600" cy="352645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Initially: n = size of T = 15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m = size of P = 7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C7A40-D64D-529B-38C3-8685BC93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1B56B4-01C9-48B4-C6C0-432605F25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E66B-697E-4815-B986-D74D3ABB8505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35C360-8632-0802-F08E-4D8B252B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24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C3AC68D-153D-B3C2-4414-3426DEED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2D6826-2128-0B72-167E-80213BCA2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10124976" cy="22853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2FBC6A-A412-0D87-CC21-AC61F4E8A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39" y="3686477"/>
            <a:ext cx="10515599" cy="26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12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27DD3-91A0-8942-CE41-F274DAA7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B2395-A8E5-432B-87F0-035A39C79109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122FD05-AF39-CF46-D55D-3AC35BFF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0EF208D-F81C-FEDD-EE1A-71E038BD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FD74ED-23C7-6B3A-5EF5-6328C48E0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9260"/>
            <a:ext cx="9585960" cy="2806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5B13CD-9CA6-EB4F-570E-19592CA6D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02" y="3429000"/>
            <a:ext cx="9653713" cy="283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97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9283D-52EB-6E85-3F4F-601F51B1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30D74-313A-E440-C1DA-AEB82FBA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576F9-3A32-4A1B-8F80-7849412D16CB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435612-7672-C067-9BBD-BED1187F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E868653-D514-F1C4-A573-70B59487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B76D70-9177-ED33-61D0-6A2E173C1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" y="454497"/>
            <a:ext cx="10866386" cy="567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8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414B6-F296-BD90-B71F-DBD6C3BE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273B4-CC56-C6EE-3F69-A97E5976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E8F87-9794-403A-9287-36244D6551FD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94A016-7D62-10B7-1BEA-0B1142DB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27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EBEAD96-7C2A-8FAC-3F18-89BCAC60A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15105A-56FB-96AF-CB79-561984D60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0" y="544514"/>
            <a:ext cx="10835678" cy="552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14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07B13-C9DB-8279-B63E-49CD7A378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5F762-04B0-31DE-8425-E03928D5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770F-2D94-4CCD-A23F-C933D6292BC5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B1F74C-B8AD-4E91-45BF-6A1DD5F1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28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B582D62-FDEA-74BF-6D96-435C7F6E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75A809-4072-9B49-6D16-DAF232C90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05" y="365125"/>
            <a:ext cx="10429415" cy="526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00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C7A40-D64D-529B-38C3-8685BC930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8F86A-C9D3-2547-DEAA-32994FC6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64B6-271A-4000-826F-FC712B5F19B9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A9D087-3A5E-74C0-CC00-D32A3593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29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A04279-338A-9C2A-442F-02016676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3E061A-A4A7-99DD-2EF2-79CAE2B08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5" y="374527"/>
            <a:ext cx="10090812" cy="58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67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7319"/>
            <a:ext cx="10515600" cy="127830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i="0" dirty="0">
                <a:solidFill>
                  <a:srgbClr val="FA40D7"/>
                </a:solidFill>
                <a:effectLst/>
                <a:latin typeface="inter-regular"/>
              </a:rPr>
              <a:t>Pattern 'P'</a:t>
            </a:r>
            <a:r>
              <a:rPr lang="en-US" b="0" i="0" dirty="0">
                <a:solidFill>
                  <a:srgbClr val="0070C0"/>
                </a:solidFill>
                <a:effectLst/>
                <a:latin typeface="inter-regular"/>
              </a:rPr>
              <a:t> has been found to complexity occur in a </a:t>
            </a:r>
            <a:r>
              <a:rPr lang="en-US" b="1" i="0" dirty="0">
                <a:effectLst/>
                <a:latin typeface="inter-regular"/>
              </a:rPr>
              <a:t>string 'T.' </a:t>
            </a:r>
            <a:r>
              <a:rPr lang="en-US" b="0" i="0" dirty="0">
                <a:solidFill>
                  <a:srgbClr val="0070C0"/>
                </a:solidFill>
                <a:effectLst/>
                <a:latin typeface="inter-regular"/>
              </a:rPr>
              <a:t>The total number of shifts that took place for the match to be found is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B0F0"/>
                </a:solidFill>
                <a:latin typeface="inter-regular"/>
              </a:rPr>
              <a:t>  </a:t>
            </a:r>
            <a:r>
              <a:rPr lang="en-US" b="0" i="0" dirty="0">
                <a:solidFill>
                  <a:srgbClr val="00B0F0"/>
                </a:solidFill>
                <a:effectLst/>
                <a:latin typeface="inter-regular"/>
              </a:rPr>
              <a:t> </a:t>
            </a:r>
            <a:r>
              <a:rPr lang="en-US" b="1" i="0" dirty="0" err="1">
                <a:solidFill>
                  <a:srgbClr val="00B0F0"/>
                </a:solidFill>
                <a:effectLst/>
                <a:latin typeface="inter-regular"/>
              </a:rPr>
              <a:t>i</a:t>
            </a:r>
            <a:r>
              <a:rPr lang="en-US" b="1" i="0" dirty="0">
                <a:solidFill>
                  <a:srgbClr val="00B0F0"/>
                </a:solidFill>
                <a:effectLst/>
                <a:latin typeface="inter-regular"/>
              </a:rPr>
              <a:t>-m = 13 - 7 = 6 shifts.</a:t>
            </a:r>
            <a:endParaRPr lang="en-IN" b="1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B82C7-633A-E12F-41BE-7F3D250B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70A1-8631-4072-B859-32908B7F9DC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5FFD6B-F6CB-BDCB-0C09-CD29798E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30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DD2827-24EE-782B-82AF-06E3FEE4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1408C9-FEF7-6488-B851-F7F869056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75" y="365125"/>
            <a:ext cx="8620748" cy="478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96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7319"/>
            <a:ext cx="10515600" cy="1278303"/>
          </a:xfrm>
        </p:spPr>
        <p:txBody>
          <a:bodyPr>
            <a:normAutofit/>
          </a:bodyPr>
          <a:lstStyle/>
          <a:p>
            <a:pPr algn="just"/>
            <a:endParaRPr lang="en-IN" b="1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B82C7-633A-E12F-41BE-7F3D250B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70A1-8631-4072-B859-32908B7F9DC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5FFD6B-F6CB-BDCB-0C09-CD29798E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31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DD2827-24EE-782B-82AF-06E3FEE4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4" name="Picture 3" descr="enter image description here">
            <a:extLst>
              <a:ext uri="{FF2B5EF4-FFF2-40B4-BE49-F238E27FC236}">
                <a16:creationId xmlns:a16="http://schemas.microsoft.com/office/drawing/2014/main" id="{6C9894DB-0880-8759-B100-71574AB517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631"/>
          <a:stretch/>
        </p:blipFill>
        <p:spPr bwMode="auto">
          <a:xfrm>
            <a:off x="2925440" y="365125"/>
            <a:ext cx="6158865" cy="58065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2802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7319"/>
            <a:ext cx="10515600" cy="1278303"/>
          </a:xfrm>
        </p:spPr>
        <p:txBody>
          <a:bodyPr>
            <a:normAutofit/>
          </a:bodyPr>
          <a:lstStyle/>
          <a:p>
            <a:pPr algn="just"/>
            <a:endParaRPr lang="en-IN" b="1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B82C7-633A-E12F-41BE-7F3D250B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70A1-8631-4072-B859-32908B7F9DC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5FFD6B-F6CB-BDCB-0C09-CD29798E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32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DD2827-24EE-782B-82AF-06E3FEE4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199F3D-C264-C120-E419-93C9C62A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14" y="774102"/>
            <a:ext cx="9093837" cy="558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15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7319"/>
            <a:ext cx="10515600" cy="1278303"/>
          </a:xfrm>
        </p:spPr>
        <p:txBody>
          <a:bodyPr>
            <a:normAutofit/>
          </a:bodyPr>
          <a:lstStyle/>
          <a:p>
            <a:pPr algn="just"/>
            <a:endParaRPr lang="en-IN" b="1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B82C7-633A-E12F-41BE-7F3D250B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70A1-8631-4072-B859-32908B7F9DC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5FFD6B-F6CB-BDCB-0C09-CD29798E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33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DD2827-24EE-782B-82AF-06E3FEE4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AB6BA1-E28E-17F2-5117-EDF39E2E4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709" y="365125"/>
            <a:ext cx="7241273" cy="605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21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7BB879A-F025-5D44-3659-7A699153B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39"/>
          <a:stretch/>
        </p:blipFill>
        <p:spPr>
          <a:xfrm>
            <a:off x="618921" y="493614"/>
            <a:ext cx="10990886" cy="608521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A28613-432F-45A5-D10E-7A1696CBF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B82C7-633A-E12F-41BE-7F3D250B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70A1-8631-4072-B859-32908B7F9DCC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5FFD6B-F6CB-BDCB-0C09-CD29798E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34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DD2827-24EE-782B-82AF-06E3FEE4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</p:spTree>
    <p:extLst>
      <p:ext uri="{BB962C8B-B14F-4D97-AF65-F5344CB8AC3E}">
        <p14:creationId xmlns:p14="http://schemas.microsoft.com/office/powerpoint/2010/main" val="11006332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9A8C-1E27-1FF9-EFC3-E7045601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D87F-B885-635D-A69A-96584A29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8872"/>
            <a:ext cx="10515600" cy="365760"/>
          </a:xfrm>
        </p:spPr>
        <p:txBody>
          <a:bodyPr>
            <a:normAutofit fontScale="85000" lnSpcReduction="20000"/>
          </a:bodyPr>
          <a:lstStyle/>
          <a:p>
            <a:r>
              <a:rPr lang="en-US" b="1" i="0" dirty="0">
                <a:solidFill>
                  <a:srgbClr val="0070C0"/>
                </a:solidFill>
                <a:effectLst/>
                <a:latin typeface="inter-regular"/>
              </a:rPr>
              <a:t>the running time of computing prefix function is O (m).</a:t>
            </a:r>
            <a:endParaRPr lang="en-IN" b="1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9283D-52EB-6E85-3F4F-601F51B1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76" y="-6572"/>
            <a:ext cx="1172299" cy="16335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335A8-AEDE-191A-4817-6F2AA6E8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CA74-EAA7-4680-9C4C-FAA1E96C32DE}" type="datetime1">
              <a:rPr lang="en-IN" smtClean="0"/>
              <a:t>21-04-2024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DCE11A-3AFB-9A67-A3C8-9ADB573E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A2AF8-1B85-4217-825F-34726AEF25E9}" type="slidenum">
              <a:rPr lang="en-IN" smtClean="0"/>
              <a:t>35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C8F152-FB98-B7CE-5BC5-D79503CDB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UNIT-1 ALGORITHM ANALYSIS TECHNIQUES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7D6399-2641-29CA-E2B1-A92C9688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4597636" cy="44261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44696C-F122-0840-8ACF-8A88319E7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24481"/>
            <a:ext cx="4597636" cy="12692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FCC718-05B2-B02C-7768-C3F272D30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703" y="365124"/>
            <a:ext cx="5016432" cy="550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48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1168</Words>
  <Application>Microsoft Office PowerPoint</Application>
  <PresentationFormat>Widescreen</PresentationFormat>
  <Paragraphs>180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erdana</vt:lpstr>
      <vt:lpstr>inter-bold</vt:lpstr>
      <vt:lpstr>inter-regular</vt:lpstr>
      <vt:lpstr>Office Theme</vt:lpstr>
      <vt:lpstr>APPLICATIONS TEXT PROCESSING String Algorithms Naïve Algorithm, Rabin Karp Algorithm,KMP Algorithm</vt:lpstr>
      <vt:lpstr>The Naive String Matching Algorithm</vt:lpstr>
      <vt:lpstr>PowerPoint Presentation</vt:lpstr>
      <vt:lpstr>PowerPoint Presentation</vt:lpstr>
      <vt:lpstr>EXAMPLE Suppose T = 1011101110 ,P = 111  Find all the Valid Shift </vt:lpstr>
      <vt:lpstr>PowerPoint Presentation</vt:lpstr>
      <vt:lpstr>PowerPoint Presentation</vt:lpstr>
      <vt:lpstr>Rabin Karp Algorithm</vt:lpstr>
      <vt:lpstr>PowerPoint Presentation</vt:lpstr>
      <vt:lpstr>EXAMPLE: For string matching, working module q = 11, how many spurious hits does the Rabin-Karp matcher encounters in Text T = 31415926535.......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Knuth-Morris-Pratt (KMP) Algorithm</vt:lpstr>
      <vt:lpstr>Components of KMP Algorithm:</vt:lpstr>
      <vt:lpstr>The Prefix Function (Π)</vt:lpstr>
      <vt:lpstr>Example: Compute Π for the pattern 'p' below</vt:lpstr>
      <vt:lpstr>PowerPoint Presentation</vt:lpstr>
      <vt:lpstr>PowerPoint Presentation</vt:lpstr>
      <vt:lpstr>PowerPoint Presentation</vt:lpstr>
      <vt:lpstr>The KMP Matcher: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TEXT PROCESSING String Algorithms Naïve Algorithm, Rabin Karp Algorithm,KMP Algorithm</dc:title>
  <dc:creator>Parvathy Krishnakumar</dc:creator>
  <cp:lastModifiedBy>Parvathy Krishnakumar</cp:lastModifiedBy>
  <cp:revision>1</cp:revision>
  <dcterms:created xsi:type="dcterms:W3CDTF">2024-04-20T19:29:17Z</dcterms:created>
  <dcterms:modified xsi:type="dcterms:W3CDTF">2024-04-20T19:35:11Z</dcterms:modified>
</cp:coreProperties>
</file>