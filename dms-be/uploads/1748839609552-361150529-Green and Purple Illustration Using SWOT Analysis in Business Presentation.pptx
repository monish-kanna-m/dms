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Barlow" panose="00000500000000000000" pitchFamily="2" charset="0"/>
      <p:regular r:id="rId11"/>
    </p:embeddedFont>
    <p:embeddedFont>
      <p:font typeface="Barlow Bold" panose="00000800000000000000" charset="0"/>
      <p:regular r:id="rId12"/>
    </p:embeddedFont>
    <p:embeddedFont>
      <p:font typeface="Barlow Ultra-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4"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image" Target="../media/image5.svg"/><Relationship Id="rId7"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image" Target="../media/image2.svg"/><Relationship Id="rId7" Type="http://schemas.openxmlformats.org/officeDocument/2006/relationships/image" Target="../media/image12.svg"/><Relationship Id="rId12"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4.png"/><Relationship Id="rId7"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26.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DF2"/>
        </a:solidFill>
        <a:effectLst/>
      </p:bgPr>
    </p:bg>
    <p:spTree>
      <p:nvGrpSpPr>
        <p:cNvPr id="1" name=""/>
        <p:cNvGrpSpPr/>
        <p:nvPr/>
      </p:nvGrpSpPr>
      <p:grpSpPr>
        <a:xfrm>
          <a:off x="0" y="0"/>
          <a:ext cx="0" cy="0"/>
          <a:chOff x="0" y="0"/>
          <a:chExt cx="0" cy="0"/>
        </a:xfrm>
      </p:grpSpPr>
      <p:grpSp>
        <p:nvGrpSpPr>
          <p:cNvPr id="2" name="Group 2"/>
          <p:cNvGrpSpPr/>
          <p:nvPr/>
        </p:nvGrpSpPr>
        <p:grpSpPr>
          <a:xfrm>
            <a:off x="5287092" y="1758024"/>
            <a:ext cx="2585078" cy="3008091"/>
            <a:chOff x="0" y="0"/>
            <a:chExt cx="698500" cy="812800"/>
          </a:xfrm>
        </p:grpSpPr>
        <p:sp>
          <p:nvSpPr>
            <p:cNvPr id="3" name="Freeform 3"/>
            <p:cNvSpPr/>
            <p:nvPr/>
          </p:nvSpPr>
          <p:spPr>
            <a:xfrm>
              <a:off x="0" y="14826"/>
              <a:ext cx="698500" cy="783147"/>
            </a:xfrm>
            <a:custGeom>
              <a:avLst/>
              <a:gdLst/>
              <a:ahLst/>
              <a:cxnLst/>
              <a:rect l="l" t="t" r="r" b="b"/>
              <a:pathLst>
                <a:path w="698500" h="783147">
                  <a:moveTo>
                    <a:pt x="415987" y="24003"/>
                  </a:moveTo>
                  <a:lnTo>
                    <a:pt x="631763" y="149545"/>
                  </a:lnTo>
                  <a:cubicBezTo>
                    <a:pt x="673081" y="173585"/>
                    <a:pt x="698500" y="217782"/>
                    <a:pt x="698500" y="265585"/>
                  </a:cubicBezTo>
                  <a:lnTo>
                    <a:pt x="698500" y="517563"/>
                  </a:lnTo>
                  <a:cubicBezTo>
                    <a:pt x="698500" y="565366"/>
                    <a:pt x="673081" y="609563"/>
                    <a:pt x="631763" y="633603"/>
                  </a:cubicBezTo>
                  <a:lnTo>
                    <a:pt x="415987" y="759145"/>
                  </a:lnTo>
                  <a:cubicBezTo>
                    <a:pt x="374733" y="783148"/>
                    <a:pt x="323767" y="783148"/>
                    <a:pt x="282513" y="759145"/>
                  </a:cubicBezTo>
                  <a:lnTo>
                    <a:pt x="66737" y="633603"/>
                  </a:lnTo>
                  <a:cubicBezTo>
                    <a:pt x="25419" y="609563"/>
                    <a:pt x="0" y="565366"/>
                    <a:pt x="0" y="517563"/>
                  </a:cubicBezTo>
                  <a:lnTo>
                    <a:pt x="0" y="265585"/>
                  </a:lnTo>
                  <a:cubicBezTo>
                    <a:pt x="0" y="217782"/>
                    <a:pt x="25419" y="173585"/>
                    <a:pt x="66737" y="149545"/>
                  </a:cubicBezTo>
                  <a:lnTo>
                    <a:pt x="282513" y="24003"/>
                  </a:lnTo>
                  <a:cubicBezTo>
                    <a:pt x="323767" y="0"/>
                    <a:pt x="374733" y="0"/>
                    <a:pt x="415987" y="24003"/>
                  </a:cubicBezTo>
                  <a:close/>
                </a:path>
              </a:pathLst>
            </a:custGeom>
            <a:solidFill>
              <a:srgbClr val="FFFDF2"/>
            </a:solidFill>
            <a:ln w="95250" cap="rnd">
              <a:solidFill>
                <a:srgbClr val="36B060"/>
              </a:solidFill>
              <a:prstDash val="solid"/>
              <a:round/>
            </a:ln>
          </p:spPr>
        </p:sp>
        <p:sp>
          <p:nvSpPr>
            <p:cNvPr id="4" name="TextBox 4"/>
            <p:cNvSpPr txBox="1"/>
            <p:nvPr/>
          </p:nvSpPr>
          <p:spPr>
            <a:xfrm>
              <a:off x="0" y="101600"/>
              <a:ext cx="698500" cy="571500"/>
            </a:xfrm>
            <a:prstGeom prst="rect">
              <a:avLst/>
            </a:prstGeom>
          </p:spPr>
          <p:txBody>
            <a:bodyPr lIns="45512" tIns="45512" rIns="45512" bIns="45512" rtlCol="0" anchor="ctr"/>
            <a:lstStyle/>
            <a:p>
              <a:pPr algn="ctr">
                <a:lnSpc>
                  <a:spcPts val="2660"/>
                </a:lnSpc>
                <a:spcBef>
                  <a:spcPct val="0"/>
                </a:spcBef>
              </a:pPr>
              <a:endParaRPr/>
            </a:p>
          </p:txBody>
        </p:sp>
      </p:grpSp>
      <p:grpSp>
        <p:nvGrpSpPr>
          <p:cNvPr id="5" name="Group 5"/>
          <p:cNvGrpSpPr/>
          <p:nvPr/>
        </p:nvGrpSpPr>
        <p:grpSpPr>
          <a:xfrm>
            <a:off x="8070337" y="2693195"/>
            <a:ext cx="2585078" cy="3008091"/>
            <a:chOff x="0" y="0"/>
            <a:chExt cx="698500" cy="812800"/>
          </a:xfrm>
        </p:grpSpPr>
        <p:sp>
          <p:nvSpPr>
            <p:cNvPr id="6" name="Freeform 6"/>
            <p:cNvSpPr/>
            <p:nvPr/>
          </p:nvSpPr>
          <p:spPr>
            <a:xfrm>
              <a:off x="0" y="14826"/>
              <a:ext cx="698500" cy="783147"/>
            </a:xfrm>
            <a:custGeom>
              <a:avLst/>
              <a:gdLst/>
              <a:ahLst/>
              <a:cxnLst/>
              <a:rect l="l" t="t" r="r" b="b"/>
              <a:pathLst>
                <a:path w="698500" h="783147">
                  <a:moveTo>
                    <a:pt x="415987" y="24003"/>
                  </a:moveTo>
                  <a:lnTo>
                    <a:pt x="631763" y="149545"/>
                  </a:lnTo>
                  <a:cubicBezTo>
                    <a:pt x="673081" y="173585"/>
                    <a:pt x="698500" y="217782"/>
                    <a:pt x="698500" y="265585"/>
                  </a:cubicBezTo>
                  <a:lnTo>
                    <a:pt x="698500" y="517563"/>
                  </a:lnTo>
                  <a:cubicBezTo>
                    <a:pt x="698500" y="565366"/>
                    <a:pt x="673081" y="609563"/>
                    <a:pt x="631763" y="633603"/>
                  </a:cubicBezTo>
                  <a:lnTo>
                    <a:pt x="415987" y="759145"/>
                  </a:lnTo>
                  <a:cubicBezTo>
                    <a:pt x="374733" y="783148"/>
                    <a:pt x="323767" y="783148"/>
                    <a:pt x="282513" y="759145"/>
                  </a:cubicBezTo>
                  <a:lnTo>
                    <a:pt x="66737" y="633603"/>
                  </a:lnTo>
                  <a:cubicBezTo>
                    <a:pt x="25419" y="609563"/>
                    <a:pt x="0" y="565366"/>
                    <a:pt x="0" y="517563"/>
                  </a:cubicBezTo>
                  <a:lnTo>
                    <a:pt x="0" y="265585"/>
                  </a:lnTo>
                  <a:cubicBezTo>
                    <a:pt x="0" y="217782"/>
                    <a:pt x="25419" y="173585"/>
                    <a:pt x="66737" y="149545"/>
                  </a:cubicBezTo>
                  <a:lnTo>
                    <a:pt x="282513" y="24003"/>
                  </a:lnTo>
                  <a:cubicBezTo>
                    <a:pt x="323767" y="0"/>
                    <a:pt x="374733" y="0"/>
                    <a:pt x="415987" y="24003"/>
                  </a:cubicBezTo>
                  <a:close/>
                </a:path>
              </a:pathLst>
            </a:custGeom>
            <a:solidFill>
              <a:srgbClr val="FFFDF2"/>
            </a:solidFill>
            <a:ln w="95250" cap="rnd">
              <a:solidFill>
                <a:srgbClr val="FFDD00"/>
              </a:solidFill>
              <a:prstDash val="solid"/>
              <a:round/>
            </a:ln>
          </p:spPr>
        </p:sp>
        <p:sp>
          <p:nvSpPr>
            <p:cNvPr id="7" name="TextBox 7"/>
            <p:cNvSpPr txBox="1"/>
            <p:nvPr/>
          </p:nvSpPr>
          <p:spPr>
            <a:xfrm>
              <a:off x="0" y="101600"/>
              <a:ext cx="698500" cy="571500"/>
            </a:xfrm>
            <a:prstGeom prst="rect">
              <a:avLst/>
            </a:prstGeom>
          </p:spPr>
          <p:txBody>
            <a:bodyPr lIns="45512" tIns="45512" rIns="45512" bIns="45512" rtlCol="0" anchor="ctr"/>
            <a:lstStyle/>
            <a:p>
              <a:pPr algn="ctr">
                <a:lnSpc>
                  <a:spcPts val="2660"/>
                </a:lnSpc>
                <a:spcBef>
                  <a:spcPct val="0"/>
                </a:spcBef>
              </a:pPr>
              <a:endParaRPr/>
            </a:p>
          </p:txBody>
        </p:sp>
      </p:grpSp>
      <p:grpSp>
        <p:nvGrpSpPr>
          <p:cNvPr id="8" name="Group 8"/>
          <p:cNvGrpSpPr/>
          <p:nvPr/>
        </p:nvGrpSpPr>
        <p:grpSpPr>
          <a:xfrm>
            <a:off x="10853583" y="1758024"/>
            <a:ext cx="2585078" cy="3008091"/>
            <a:chOff x="0" y="0"/>
            <a:chExt cx="698500" cy="812800"/>
          </a:xfrm>
        </p:grpSpPr>
        <p:sp>
          <p:nvSpPr>
            <p:cNvPr id="9" name="Freeform 9"/>
            <p:cNvSpPr/>
            <p:nvPr/>
          </p:nvSpPr>
          <p:spPr>
            <a:xfrm>
              <a:off x="0" y="14826"/>
              <a:ext cx="698500" cy="783147"/>
            </a:xfrm>
            <a:custGeom>
              <a:avLst/>
              <a:gdLst/>
              <a:ahLst/>
              <a:cxnLst/>
              <a:rect l="l" t="t" r="r" b="b"/>
              <a:pathLst>
                <a:path w="698500" h="783147">
                  <a:moveTo>
                    <a:pt x="415987" y="24003"/>
                  </a:moveTo>
                  <a:lnTo>
                    <a:pt x="631763" y="149545"/>
                  </a:lnTo>
                  <a:cubicBezTo>
                    <a:pt x="673081" y="173585"/>
                    <a:pt x="698500" y="217782"/>
                    <a:pt x="698500" y="265585"/>
                  </a:cubicBezTo>
                  <a:lnTo>
                    <a:pt x="698500" y="517563"/>
                  </a:lnTo>
                  <a:cubicBezTo>
                    <a:pt x="698500" y="565366"/>
                    <a:pt x="673081" y="609563"/>
                    <a:pt x="631763" y="633603"/>
                  </a:cubicBezTo>
                  <a:lnTo>
                    <a:pt x="415987" y="759145"/>
                  </a:lnTo>
                  <a:cubicBezTo>
                    <a:pt x="374733" y="783148"/>
                    <a:pt x="323767" y="783148"/>
                    <a:pt x="282513" y="759145"/>
                  </a:cubicBezTo>
                  <a:lnTo>
                    <a:pt x="66737" y="633603"/>
                  </a:lnTo>
                  <a:cubicBezTo>
                    <a:pt x="25419" y="609563"/>
                    <a:pt x="0" y="565366"/>
                    <a:pt x="0" y="517563"/>
                  </a:cubicBezTo>
                  <a:lnTo>
                    <a:pt x="0" y="265585"/>
                  </a:lnTo>
                  <a:cubicBezTo>
                    <a:pt x="0" y="217782"/>
                    <a:pt x="25419" y="173585"/>
                    <a:pt x="66737" y="149545"/>
                  </a:cubicBezTo>
                  <a:lnTo>
                    <a:pt x="282513" y="24003"/>
                  </a:lnTo>
                  <a:cubicBezTo>
                    <a:pt x="323767" y="0"/>
                    <a:pt x="374733" y="0"/>
                    <a:pt x="415987" y="24003"/>
                  </a:cubicBezTo>
                  <a:close/>
                </a:path>
              </a:pathLst>
            </a:custGeom>
            <a:solidFill>
              <a:srgbClr val="FFFDF2"/>
            </a:solidFill>
            <a:ln w="95250" cap="rnd">
              <a:solidFill>
                <a:srgbClr val="8363B8"/>
              </a:solidFill>
              <a:prstDash val="solid"/>
              <a:round/>
            </a:ln>
          </p:spPr>
        </p:sp>
        <p:sp>
          <p:nvSpPr>
            <p:cNvPr id="10" name="TextBox 10"/>
            <p:cNvSpPr txBox="1"/>
            <p:nvPr/>
          </p:nvSpPr>
          <p:spPr>
            <a:xfrm>
              <a:off x="0" y="101600"/>
              <a:ext cx="698500" cy="571500"/>
            </a:xfrm>
            <a:prstGeom prst="rect">
              <a:avLst/>
            </a:prstGeom>
          </p:spPr>
          <p:txBody>
            <a:bodyPr lIns="45512" tIns="45512" rIns="45512" bIns="45512" rtlCol="0" anchor="ctr"/>
            <a:lstStyle/>
            <a:p>
              <a:pPr algn="ctr">
                <a:lnSpc>
                  <a:spcPts val="2660"/>
                </a:lnSpc>
                <a:spcBef>
                  <a:spcPct val="0"/>
                </a:spcBef>
              </a:pPr>
              <a:endParaRPr/>
            </a:p>
          </p:txBody>
        </p:sp>
      </p:grpSp>
      <p:grpSp>
        <p:nvGrpSpPr>
          <p:cNvPr id="11" name="Group 11"/>
          <p:cNvGrpSpPr/>
          <p:nvPr/>
        </p:nvGrpSpPr>
        <p:grpSpPr>
          <a:xfrm>
            <a:off x="16664131" y="-2421489"/>
            <a:ext cx="2173427" cy="3673302"/>
            <a:chOff x="0" y="0"/>
            <a:chExt cx="572425" cy="967454"/>
          </a:xfrm>
        </p:grpSpPr>
        <p:sp>
          <p:nvSpPr>
            <p:cNvPr id="12" name="Freeform 12"/>
            <p:cNvSpPr/>
            <p:nvPr/>
          </p:nvSpPr>
          <p:spPr>
            <a:xfrm>
              <a:off x="0" y="0"/>
              <a:ext cx="572425" cy="967454"/>
            </a:xfrm>
            <a:custGeom>
              <a:avLst/>
              <a:gdLst/>
              <a:ahLst/>
              <a:cxnLst/>
              <a:rect l="l" t="t" r="r" b="b"/>
              <a:pathLst>
                <a:path w="572425" h="967454">
                  <a:moveTo>
                    <a:pt x="0" y="0"/>
                  </a:moveTo>
                  <a:lnTo>
                    <a:pt x="572425" y="0"/>
                  </a:lnTo>
                  <a:lnTo>
                    <a:pt x="572425" y="967454"/>
                  </a:lnTo>
                  <a:lnTo>
                    <a:pt x="0" y="967454"/>
                  </a:lnTo>
                  <a:close/>
                </a:path>
              </a:pathLst>
            </a:custGeom>
            <a:solidFill>
              <a:srgbClr val="FDEAFF"/>
            </a:solidFill>
          </p:spPr>
        </p:sp>
        <p:sp>
          <p:nvSpPr>
            <p:cNvPr id="13" name="TextBox 13"/>
            <p:cNvSpPr txBox="1"/>
            <p:nvPr/>
          </p:nvSpPr>
          <p:spPr>
            <a:xfrm>
              <a:off x="0" y="-9525"/>
              <a:ext cx="572425" cy="976979"/>
            </a:xfrm>
            <a:prstGeom prst="rect">
              <a:avLst/>
            </a:prstGeom>
          </p:spPr>
          <p:txBody>
            <a:bodyPr lIns="50800" tIns="50800" rIns="50800" bIns="50800" rtlCol="0" anchor="ctr"/>
            <a:lstStyle/>
            <a:p>
              <a:pPr algn="ctr">
                <a:lnSpc>
                  <a:spcPts val="2999"/>
                </a:lnSpc>
              </a:pPr>
              <a:endParaRPr/>
            </a:p>
          </p:txBody>
        </p:sp>
      </p:grpSp>
      <p:grpSp>
        <p:nvGrpSpPr>
          <p:cNvPr id="14" name="Group 14"/>
          <p:cNvGrpSpPr/>
          <p:nvPr/>
        </p:nvGrpSpPr>
        <p:grpSpPr>
          <a:xfrm>
            <a:off x="0" y="6613698"/>
            <a:ext cx="2173427" cy="3673302"/>
            <a:chOff x="0" y="0"/>
            <a:chExt cx="572425" cy="967454"/>
          </a:xfrm>
        </p:grpSpPr>
        <p:sp>
          <p:nvSpPr>
            <p:cNvPr id="15" name="Freeform 15"/>
            <p:cNvSpPr/>
            <p:nvPr/>
          </p:nvSpPr>
          <p:spPr>
            <a:xfrm>
              <a:off x="0" y="0"/>
              <a:ext cx="572425" cy="967454"/>
            </a:xfrm>
            <a:custGeom>
              <a:avLst/>
              <a:gdLst/>
              <a:ahLst/>
              <a:cxnLst/>
              <a:rect l="l" t="t" r="r" b="b"/>
              <a:pathLst>
                <a:path w="572425" h="967454">
                  <a:moveTo>
                    <a:pt x="0" y="0"/>
                  </a:moveTo>
                  <a:lnTo>
                    <a:pt x="572425" y="0"/>
                  </a:lnTo>
                  <a:lnTo>
                    <a:pt x="572425" y="967454"/>
                  </a:lnTo>
                  <a:lnTo>
                    <a:pt x="0" y="967454"/>
                  </a:lnTo>
                  <a:close/>
                </a:path>
              </a:pathLst>
            </a:custGeom>
            <a:solidFill>
              <a:srgbClr val="FDEAFF"/>
            </a:solidFill>
          </p:spPr>
        </p:sp>
        <p:sp>
          <p:nvSpPr>
            <p:cNvPr id="16" name="TextBox 16"/>
            <p:cNvSpPr txBox="1"/>
            <p:nvPr/>
          </p:nvSpPr>
          <p:spPr>
            <a:xfrm>
              <a:off x="0" y="-9525"/>
              <a:ext cx="572425" cy="976979"/>
            </a:xfrm>
            <a:prstGeom prst="rect">
              <a:avLst/>
            </a:prstGeom>
          </p:spPr>
          <p:txBody>
            <a:bodyPr lIns="50800" tIns="50800" rIns="50800" bIns="50800" rtlCol="0" anchor="ctr"/>
            <a:lstStyle/>
            <a:p>
              <a:pPr algn="ctr">
                <a:lnSpc>
                  <a:spcPts val="2999"/>
                </a:lnSpc>
              </a:pPr>
              <a:endParaRPr/>
            </a:p>
          </p:txBody>
        </p:sp>
      </p:grpSp>
      <p:grpSp>
        <p:nvGrpSpPr>
          <p:cNvPr id="17" name="Group 17"/>
          <p:cNvGrpSpPr/>
          <p:nvPr/>
        </p:nvGrpSpPr>
        <p:grpSpPr>
          <a:xfrm>
            <a:off x="3867758" y="7061095"/>
            <a:ext cx="11352290" cy="2069389"/>
            <a:chOff x="0" y="0"/>
            <a:chExt cx="2989904" cy="545024"/>
          </a:xfrm>
        </p:grpSpPr>
        <p:sp>
          <p:nvSpPr>
            <p:cNvPr id="18" name="Freeform 18"/>
            <p:cNvSpPr/>
            <p:nvPr/>
          </p:nvSpPr>
          <p:spPr>
            <a:xfrm>
              <a:off x="0" y="0"/>
              <a:ext cx="2989904" cy="545024"/>
            </a:xfrm>
            <a:custGeom>
              <a:avLst/>
              <a:gdLst/>
              <a:ahLst/>
              <a:cxnLst/>
              <a:rect l="l" t="t" r="r" b="b"/>
              <a:pathLst>
                <a:path w="2989904" h="545024">
                  <a:moveTo>
                    <a:pt x="31371" y="0"/>
                  </a:moveTo>
                  <a:lnTo>
                    <a:pt x="2958533" y="0"/>
                  </a:lnTo>
                  <a:cubicBezTo>
                    <a:pt x="2975859" y="0"/>
                    <a:pt x="2989904" y="14045"/>
                    <a:pt x="2989904" y="31371"/>
                  </a:cubicBezTo>
                  <a:lnTo>
                    <a:pt x="2989904" y="513654"/>
                  </a:lnTo>
                  <a:cubicBezTo>
                    <a:pt x="2989904" y="521974"/>
                    <a:pt x="2986599" y="529953"/>
                    <a:pt x="2980716" y="535836"/>
                  </a:cubicBezTo>
                  <a:cubicBezTo>
                    <a:pt x="2974832" y="541719"/>
                    <a:pt x="2966853" y="545024"/>
                    <a:pt x="2958533" y="545024"/>
                  </a:cubicBezTo>
                  <a:lnTo>
                    <a:pt x="31371" y="545024"/>
                  </a:lnTo>
                  <a:cubicBezTo>
                    <a:pt x="23051" y="545024"/>
                    <a:pt x="15071" y="541719"/>
                    <a:pt x="9188" y="535836"/>
                  </a:cubicBezTo>
                  <a:cubicBezTo>
                    <a:pt x="3305" y="529953"/>
                    <a:pt x="0" y="521974"/>
                    <a:pt x="0" y="513654"/>
                  </a:cubicBezTo>
                  <a:lnTo>
                    <a:pt x="0" y="31371"/>
                  </a:lnTo>
                  <a:cubicBezTo>
                    <a:pt x="0" y="23051"/>
                    <a:pt x="3305" y="15071"/>
                    <a:pt x="9188" y="9188"/>
                  </a:cubicBezTo>
                  <a:cubicBezTo>
                    <a:pt x="15071" y="3305"/>
                    <a:pt x="23051" y="0"/>
                    <a:pt x="31371" y="0"/>
                  </a:cubicBezTo>
                  <a:close/>
                </a:path>
              </a:pathLst>
            </a:custGeom>
            <a:solidFill>
              <a:srgbClr val="8363B8"/>
            </a:solidFill>
          </p:spPr>
        </p:sp>
        <p:sp>
          <p:nvSpPr>
            <p:cNvPr id="19" name="TextBox 19"/>
            <p:cNvSpPr txBox="1"/>
            <p:nvPr/>
          </p:nvSpPr>
          <p:spPr>
            <a:xfrm>
              <a:off x="0" y="-9525"/>
              <a:ext cx="2989904" cy="554549"/>
            </a:xfrm>
            <a:prstGeom prst="rect">
              <a:avLst/>
            </a:prstGeom>
          </p:spPr>
          <p:txBody>
            <a:bodyPr lIns="50800" tIns="50800" rIns="50800" bIns="50800" rtlCol="0" anchor="ctr"/>
            <a:lstStyle/>
            <a:p>
              <a:pPr algn="ctr">
                <a:lnSpc>
                  <a:spcPts val="2999"/>
                </a:lnSpc>
              </a:pPr>
              <a:endParaRPr/>
            </a:p>
          </p:txBody>
        </p:sp>
      </p:grpSp>
      <p:sp>
        <p:nvSpPr>
          <p:cNvPr id="20" name="Freeform 20"/>
          <p:cNvSpPr/>
          <p:nvPr/>
        </p:nvSpPr>
        <p:spPr>
          <a:xfrm>
            <a:off x="16664131" y="-737410"/>
            <a:ext cx="3634792" cy="1989223"/>
          </a:xfrm>
          <a:custGeom>
            <a:avLst/>
            <a:gdLst/>
            <a:ahLst/>
            <a:cxnLst/>
            <a:rect l="l" t="t" r="r" b="b"/>
            <a:pathLst>
              <a:path w="3634792" h="1989223">
                <a:moveTo>
                  <a:pt x="0" y="0"/>
                </a:moveTo>
                <a:lnTo>
                  <a:pt x="3634792" y="0"/>
                </a:lnTo>
                <a:lnTo>
                  <a:pt x="3634792" y="1989223"/>
                </a:lnTo>
                <a:lnTo>
                  <a:pt x="0" y="19892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1" name="Freeform 21"/>
          <p:cNvSpPr/>
          <p:nvPr/>
        </p:nvSpPr>
        <p:spPr>
          <a:xfrm>
            <a:off x="11927246" y="9607845"/>
            <a:ext cx="3634792" cy="1989223"/>
          </a:xfrm>
          <a:custGeom>
            <a:avLst/>
            <a:gdLst/>
            <a:ahLst/>
            <a:cxnLst/>
            <a:rect l="l" t="t" r="r" b="b"/>
            <a:pathLst>
              <a:path w="3634792" h="1989223">
                <a:moveTo>
                  <a:pt x="0" y="0"/>
                </a:moveTo>
                <a:lnTo>
                  <a:pt x="3634792" y="0"/>
                </a:lnTo>
                <a:lnTo>
                  <a:pt x="3634792" y="1989223"/>
                </a:lnTo>
                <a:lnTo>
                  <a:pt x="0" y="19892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Freeform 22"/>
          <p:cNvSpPr/>
          <p:nvPr/>
        </p:nvSpPr>
        <p:spPr>
          <a:xfrm>
            <a:off x="13948363" y="4446626"/>
            <a:ext cx="5431536" cy="8229600"/>
          </a:xfrm>
          <a:custGeom>
            <a:avLst/>
            <a:gdLst/>
            <a:ahLst/>
            <a:cxnLst/>
            <a:rect l="l" t="t" r="r" b="b"/>
            <a:pathLst>
              <a:path w="5431536" h="8229600">
                <a:moveTo>
                  <a:pt x="0" y="0"/>
                </a:moveTo>
                <a:lnTo>
                  <a:pt x="5431536" y="0"/>
                </a:lnTo>
                <a:lnTo>
                  <a:pt x="5431536" y="8229600"/>
                </a:lnTo>
                <a:lnTo>
                  <a:pt x="0" y="8229600"/>
                </a:lnTo>
                <a:lnTo>
                  <a:pt x="0" y="0"/>
                </a:lnTo>
                <a:close/>
              </a:path>
            </a:pathLst>
          </a:custGeom>
          <a:blipFill>
            <a:blip r:embed="rId4"/>
            <a:stretch>
              <a:fillRect/>
            </a:stretch>
          </a:blipFill>
        </p:spPr>
      </p:sp>
      <p:sp>
        <p:nvSpPr>
          <p:cNvPr id="23" name="TextBox 23"/>
          <p:cNvSpPr txBox="1"/>
          <p:nvPr/>
        </p:nvSpPr>
        <p:spPr>
          <a:xfrm>
            <a:off x="5636589" y="2533321"/>
            <a:ext cx="1886083" cy="1695623"/>
          </a:xfrm>
          <a:prstGeom prst="rect">
            <a:avLst/>
          </a:prstGeom>
        </p:spPr>
        <p:txBody>
          <a:bodyPr lIns="0" tIns="0" rIns="0" bIns="0" rtlCol="0" anchor="t">
            <a:spAutoFit/>
          </a:bodyPr>
          <a:lstStyle/>
          <a:p>
            <a:pPr algn="ctr">
              <a:lnSpc>
                <a:spcPts val="12711"/>
              </a:lnSpc>
              <a:spcBef>
                <a:spcPct val="0"/>
              </a:spcBef>
            </a:pPr>
            <a:r>
              <a:rPr lang="en-US" sz="12711" b="1">
                <a:solidFill>
                  <a:srgbClr val="249E4E"/>
                </a:solidFill>
                <a:latin typeface="Barlow Ultra-Bold"/>
                <a:ea typeface="Barlow Ultra-Bold"/>
                <a:cs typeface="Barlow Ultra-Bold"/>
                <a:sym typeface="Barlow Ultra-Bold"/>
              </a:rPr>
              <a:t>D</a:t>
            </a:r>
          </a:p>
        </p:txBody>
      </p:sp>
      <p:sp>
        <p:nvSpPr>
          <p:cNvPr id="24" name="TextBox 24"/>
          <p:cNvSpPr txBox="1"/>
          <p:nvPr/>
        </p:nvSpPr>
        <p:spPr>
          <a:xfrm>
            <a:off x="8419835" y="3468491"/>
            <a:ext cx="1886083" cy="1694480"/>
          </a:xfrm>
          <a:prstGeom prst="rect">
            <a:avLst/>
          </a:prstGeom>
        </p:spPr>
        <p:txBody>
          <a:bodyPr lIns="0" tIns="0" rIns="0" bIns="0" rtlCol="0" anchor="t">
            <a:spAutoFit/>
          </a:bodyPr>
          <a:lstStyle/>
          <a:p>
            <a:pPr algn="ctr">
              <a:lnSpc>
                <a:spcPts val="12711"/>
              </a:lnSpc>
              <a:spcBef>
                <a:spcPct val="0"/>
              </a:spcBef>
            </a:pPr>
            <a:r>
              <a:rPr lang="en-US" sz="12711" b="1" dirty="0">
                <a:solidFill>
                  <a:srgbClr val="FFDD00"/>
                </a:solidFill>
                <a:latin typeface="Barlow Ultra-Bold"/>
                <a:ea typeface="Barlow Ultra-Bold"/>
                <a:cs typeface="Barlow Ultra-Bold"/>
                <a:sym typeface="Barlow Ultra-Bold"/>
              </a:rPr>
              <a:t>M</a:t>
            </a:r>
          </a:p>
        </p:txBody>
      </p:sp>
      <p:sp>
        <p:nvSpPr>
          <p:cNvPr id="25" name="TextBox 25"/>
          <p:cNvSpPr txBox="1"/>
          <p:nvPr/>
        </p:nvSpPr>
        <p:spPr>
          <a:xfrm>
            <a:off x="11203081" y="2533321"/>
            <a:ext cx="1886083" cy="1695623"/>
          </a:xfrm>
          <a:prstGeom prst="rect">
            <a:avLst/>
          </a:prstGeom>
        </p:spPr>
        <p:txBody>
          <a:bodyPr lIns="0" tIns="0" rIns="0" bIns="0" rtlCol="0" anchor="t">
            <a:spAutoFit/>
          </a:bodyPr>
          <a:lstStyle/>
          <a:p>
            <a:pPr algn="ctr">
              <a:lnSpc>
                <a:spcPts val="12711"/>
              </a:lnSpc>
              <a:spcBef>
                <a:spcPct val="0"/>
              </a:spcBef>
            </a:pPr>
            <a:r>
              <a:rPr lang="en-US" sz="12711" b="1">
                <a:solidFill>
                  <a:srgbClr val="8363B8"/>
                </a:solidFill>
                <a:latin typeface="Barlow Ultra-Bold"/>
                <a:ea typeface="Barlow Ultra-Bold"/>
                <a:cs typeface="Barlow Ultra-Bold"/>
                <a:sym typeface="Barlow Ultra-Bold"/>
              </a:rPr>
              <a:t>S</a:t>
            </a:r>
          </a:p>
        </p:txBody>
      </p:sp>
      <p:sp>
        <p:nvSpPr>
          <p:cNvPr id="26" name="TextBox 26"/>
          <p:cNvSpPr txBox="1"/>
          <p:nvPr/>
        </p:nvSpPr>
        <p:spPr>
          <a:xfrm>
            <a:off x="5287092" y="7461697"/>
            <a:ext cx="8995252" cy="1385655"/>
          </a:xfrm>
          <a:prstGeom prst="rect">
            <a:avLst/>
          </a:prstGeom>
        </p:spPr>
        <p:txBody>
          <a:bodyPr lIns="0" tIns="0" rIns="0" bIns="0" rtlCol="0" anchor="t">
            <a:spAutoFit/>
          </a:bodyPr>
          <a:lstStyle/>
          <a:p>
            <a:pPr algn="ctr">
              <a:lnSpc>
                <a:spcPts val="5497"/>
              </a:lnSpc>
            </a:pPr>
            <a:r>
              <a:rPr lang="en-US" sz="4581" b="1" spc="476">
                <a:solidFill>
                  <a:srgbClr val="FFF9F0"/>
                </a:solidFill>
                <a:latin typeface="Barlow Bold"/>
                <a:ea typeface="Barlow Bold"/>
                <a:cs typeface="Barlow Bold"/>
                <a:sym typeface="Barlow Bold"/>
              </a:rPr>
              <a:t>DOCUMENT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EAFF"/>
        </a:solidFill>
        <a:effectLst/>
      </p:bgPr>
    </p:bg>
    <p:spTree>
      <p:nvGrpSpPr>
        <p:cNvPr id="1" name=""/>
        <p:cNvGrpSpPr/>
        <p:nvPr/>
      </p:nvGrpSpPr>
      <p:grpSpPr>
        <a:xfrm>
          <a:off x="0" y="0"/>
          <a:ext cx="0" cy="0"/>
          <a:chOff x="0" y="0"/>
          <a:chExt cx="0" cy="0"/>
        </a:xfrm>
      </p:grpSpPr>
      <p:grpSp>
        <p:nvGrpSpPr>
          <p:cNvPr id="2" name="Group 2"/>
          <p:cNvGrpSpPr/>
          <p:nvPr/>
        </p:nvGrpSpPr>
        <p:grpSpPr>
          <a:xfrm>
            <a:off x="16274534" y="8229600"/>
            <a:ext cx="3086100" cy="3086100"/>
            <a:chOff x="0" y="0"/>
            <a:chExt cx="812800" cy="812800"/>
          </a:xfrm>
        </p:grpSpPr>
        <p:sp>
          <p:nvSpPr>
            <p:cNvPr id="3" name="Freeform 3"/>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FDF2"/>
            </a:solidFill>
          </p:spPr>
        </p:sp>
        <p:sp>
          <p:nvSpPr>
            <p:cNvPr id="4" name="TextBox 4"/>
            <p:cNvSpPr txBox="1"/>
            <p:nvPr/>
          </p:nvSpPr>
          <p:spPr>
            <a:xfrm>
              <a:off x="0" y="-9525"/>
              <a:ext cx="812800" cy="822325"/>
            </a:xfrm>
            <a:prstGeom prst="rect">
              <a:avLst/>
            </a:prstGeom>
          </p:spPr>
          <p:txBody>
            <a:bodyPr lIns="50800" tIns="50800" rIns="50800" bIns="50800" rtlCol="0" anchor="ctr"/>
            <a:lstStyle/>
            <a:p>
              <a:pPr algn="ctr">
                <a:lnSpc>
                  <a:spcPts val="2999"/>
                </a:lnSpc>
              </a:pPr>
              <a:endParaRPr/>
            </a:p>
          </p:txBody>
        </p:sp>
      </p:grpSp>
      <p:grpSp>
        <p:nvGrpSpPr>
          <p:cNvPr id="5" name="Group 5"/>
          <p:cNvGrpSpPr/>
          <p:nvPr/>
        </p:nvGrpSpPr>
        <p:grpSpPr>
          <a:xfrm>
            <a:off x="244771" y="1353536"/>
            <a:ext cx="6781763" cy="1118201"/>
            <a:chOff x="0" y="0"/>
            <a:chExt cx="1786143" cy="294506"/>
          </a:xfrm>
        </p:grpSpPr>
        <p:sp>
          <p:nvSpPr>
            <p:cNvPr id="6" name="Freeform 6"/>
            <p:cNvSpPr/>
            <p:nvPr/>
          </p:nvSpPr>
          <p:spPr>
            <a:xfrm>
              <a:off x="0" y="0"/>
              <a:ext cx="1786143" cy="294506"/>
            </a:xfrm>
            <a:custGeom>
              <a:avLst/>
              <a:gdLst/>
              <a:ahLst/>
              <a:cxnLst/>
              <a:rect l="l" t="t" r="r" b="b"/>
              <a:pathLst>
                <a:path w="1786143" h="294506">
                  <a:moveTo>
                    <a:pt x="0" y="0"/>
                  </a:moveTo>
                  <a:lnTo>
                    <a:pt x="1786143" y="0"/>
                  </a:lnTo>
                  <a:lnTo>
                    <a:pt x="1786143" y="294506"/>
                  </a:lnTo>
                  <a:lnTo>
                    <a:pt x="0" y="294506"/>
                  </a:lnTo>
                  <a:close/>
                </a:path>
              </a:pathLst>
            </a:custGeom>
            <a:solidFill>
              <a:srgbClr val="FFFDF2"/>
            </a:solidFill>
          </p:spPr>
        </p:sp>
        <p:sp>
          <p:nvSpPr>
            <p:cNvPr id="7" name="TextBox 7"/>
            <p:cNvSpPr txBox="1"/>
            <p:nvPr/>
          </p:nvSpPr>
          <p:spPr>
            <a:xfrm>
              <a:off x="0" y="-9525"/>
              <a:ext cx="1786143" cy="304031"/>
            </a:xfrm>
            <a:prstGeom prst="rect">
              <a:avLst/>
            </a:prstGeom>
          </p:spPr>
          <p:txBody>
            <a:bodyPr lIns="50800" tIns="50800" rIns="50800" bIns="50800" rtlCol="0" anchor="ctr"/>
            <a:lstStyle/>
            <a:p>
              <a:pPr algn="ctr">
                <a:lnSpc>
                  <a:spcPts val="2999"/>
                </a:lnSpc>
              </a:pPr>
              <a:endParaRPr/>
            </a:p>
          </p:txBody>
        </p:sp>
      </p:grpSp>
      <p:grpSp>
        <p:nvGrpSpPr>
          <p:cNvPr id="8" name="Group 8"/>
          <p:cNvGrpSpPr/>
          <p:nvPr/>
        </p:nvGrpSpPr>
        <p:grpSpPr>
          <a:xfrm>
            <a:off x="2942729" y="8816674"/>
            <a:ext cx="3086100" cy="189103"/>
            <a:chOff x="0" y="0"/>
            <a:chExt cx="812800" cy="49805"/>
          </a:xfrm>
        </p:grpSpPr>
        <p:sp>
          <p:nvSpPr>
            <p:cNvPr id="9" name="Freeform 9"/>
            <p:cNvSpPr/>
            <p:nvPr/>
          </p:nvSpPr>
          <p:spPr>
            <a:xfrm>
              <a:off x="0" y="0"/>
              <a:ext cx="812800" cy="49805"/>
            </a:xfrm>
            <a:custGeom>
              <a:avLst/>
              <a:gdLst/>
              <a:ahLst/>
              <a:cxnLst/>
              <a:rect l="l" t="t" r="r" b="b"/>
              <a:pathLst>
                <a:path w="812800" h="49805">
                  <a:moveTo>
                    <a:pt x="0" y="0"/>
                  </a:moveTo>
                  <a:lnTo>
                    <a:pt x="812800" y="0"/>
                  </a:lnTo>
                  <a:lnTo>
                    <a:pt x="812800" y="49805"/>
                  </a:lnTo>
                  <a:lnTo>
                    <a:pt x="0" y="49805"/>
                  </a:lnTo>
                  <a:close/>
                </a:path>
              </a:pathLst>
            </a:custGeom>
            <a:solidFill>
              <a:srgbClr val="FFFDF2"/>
            </a:solidFill>
          </p:spPr>
        </p:sp>
        <p:sp>
          <p:nvSpPr>
            <p:cNvPr id="10" name="TextBox 10"/>
            <p:cNvSpPr txBox="1"/>
            <p:nvPr/>
          </p:nvSpPr>
          <p:spPr>
            <a:xfrm>
              <a:off x="0" y="-9525"/>
              <a:ext cx="812800" cy="59330"/>
            </a:xfrm>
            <a:prstGeom prst="rect">
              <a:avLst/>
            </a:prstGeom>
          </p:spPr>
          <p:txBody>
            <a:bodyPr lIns="50800" tIns="50800" rIns="50800" bIns="50800" rtlCol="0" anchor="ctr"/>
            <a:lstStyle/>
            <a:p>
              <a:pPr algn="ctr">
                <a:lnSpc>
                  <a:spcPts val="2999"/>
                </a:lnSpc>
              </a:pPr>
              <a:endParaRPr/>
            </a:p>
          </p:txBody>
        </p:sp>
      </p:grpSp>
      <p:sp>
        <p:nvSpPr>
          <p:cNvPr id="11" name="Freeform 11"/>
          <p:cNvSpPr/>
          <p:nvPr/>
        </p:nvSpPr>
        <p:spPr>
          <a:xfrm>
            <a:off x="-2057400" y="82296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a:off x="17817584" y="-16430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12736725" y="604940"/>
            <a:ext cx="4906552" cy="4538560"/>
          </a:xfrm>
          <a:custGeom>
            <a:avLst/>
            <a:gdLst/>
            <a:ahLst/>
            <a:cxnLst/>
            <a:rect l="l" t="t" r="r" b="b"/>
            <a:pathLst>
              <a:path w="4906552" h="4538560">
                <a:moveTo>
                  <a:pt x="0" y="0"/>
                </a:moveTo>
                <a:lnTo>
                  <a:pt x="4906551" y="0"/>
                </a:lnTo>
                <a:lnTo>
                  <a:pt x="4906551" y="4538560"/>
                </a:lnTo>
                <a:lnTo>
                  <a:pt x="0" y="4538560"/>
                </a:lnTo>
                <a:lnTo>
                  <a:pt x="0" y="0"/>
                </a:lnTo>
                <a:close/>
              </a:path>
            </a:pathLst>
          </a:custGeom>
          <a:blipFill>
            <a:blip r:embed="rId4"/>
            <a:stretch>
              <a:fillRect/>
            </a:stretch>
          </a:blipFill>
        </p:spPr>
      </p:sp>
      <p:sp>
        <p:nvSpPr>
          <p:cNvPr id="14" name="Freeform 14"/>
          <p:cNvSpPr/>
          <p:nvPr/>
        </p:nvSpPr>
        <p:spPr>
          <a:xfrm>
            <a:off x="16297888" y="8633880"/>
            <a:ext cx="1990112" cy="1476301"/>
          </a:xfrm>
          <a:custGeom>
            <a:avLst/>
            <a:gdLst/>
            <a:ahLst/>
            <a:cxnLst/>
            <a:rect l="l" t="t" r="r" b="b"/>
            <a:pathLst>
              <a:path w="1990112" h="1476301">
                <a:moveTo>
                  <a:pt x="0" y="0"/>
                </a:moveTo>
                <a:lnTo>
                  <a:pt x="1990112" y="0"/>
                </a:lnTo>
                <a:lnTo>
                  <a:pt x="1990112" y="1476301"/>
                </a:lnTo>
                <a:lnTo>
                  <a:pt x="0" y="14763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5" name="TextBox 15"/>
          <p:cNvSpPr txBox="1"/>
          <p:nvPr/>
        </p:nvSpPr>
        <p:spPr>
          <a:xfrm>
            <a:off x="418762" y="3295006"/>
            <a:ext cx="11339614" cy="5348195"/>
          </a:xfrm>
          <a:prstGeom prst="rect">
            <a:avLst/>
          </a:prstGeom>
        </p:spPr>
        <p:txBody>
          <a:bodyPr lIns="0" tIns="0" rIns="0" bIns="0" rtlCol="0" anchor="t">
            <a:spAutoFit/>
          </a:bodyPr>
          <a:lstStyle/>
          <a:p>
            <a:pPr marL="312891" lvl="1" algn="just">
              <a:lnSpc>
                <a:spcPts val="4695"/>
              </a:lnSpc>
            </a:pPr>
            <a:r>
              <a:rPr lang="en-US" sz="2898" dirty="0">
                <a:solidFill>
                  <a:srgbClr val="000000"/>
                </a:solidFill>
                <a:latin typeface="Barlow"/>
                <a:ea typeface="Barlow"/>
                <a:cs typeface="Barlow"/>
                <a:sym typeface="Barlow"/>
              </a:rPr>
              <a:t>This project focuses on developing a Document Management System (DMS) that enables users to efficiently upload, store, manage, and retrieve digital documents. The system aims to reduce manual paperwork, improve document accessibility, and enhance collaboration within an organization. With features like secure storage, search functionality, and version control, the DMS provides a reliable and scalable solution for managing various types of documents in a centralized digital environment.</a:t>
            </a:r>
          </a:p>
          <a:p>
            <a:pPr algn="l">
              <a:lnSpc>
                <a:spcPts val="4695"/>
              </a:lnSpc>
            </a:pPr>
            <a:endParaRPr lang="en-US" sz="2898" dirty="0">
              <a:solidFill>
                <a:srgbClr val="000000"/>
              </a:solidFill>
              <a:latin typeface="Barlow"/>
              <a:ea typeface="Barlow"/>
              <a:cs typeface="Barlow"/>
              <a:sym typeface="Barlow"/>
            </a:endParaRPr>
          </a:p>
        </p:txBody>
      </p:sp>
      <p:sp>
        <p:nvSpPr>
          <p:cNvPr id="16" name="TextBox 16"/>
          <p:cNvSpPr txBox="1"/>
          <p:nvPr/>
        </p:nvSpPr>
        <p:spPr>
          <a:xfrm>
            <a:off x="418762" y="1353536"/>
            <a:ext cx="12143655" cy="1000155"/>
          </a:xfrm>
          <a:prstGeom prst="rect">
            <a:avLst/>
          </a:prstGeom>
        </p:spPr>
        <p:txBody>
          <a:bodyPr lIns="0" tIns="0" rIns="0" bIns="0" rtlCol="0" anchor="t">
            <a:spAutoFit/>
          </a:bodyPr>
          <a:lstStyle/>
          <a:p>
            <a:pPr algn="l">
              <a:lnSpc>
                <a:spcPts val="7875"/>
              </a:lnSpc>
            </a:pPr>
            <a:r>
              <a:rPr lang="en-US" sz="6562" b="1" spc="656">
                <a:solidFill>
                  <a:srgbClr val="8363B8"/>
                </a:solidFill>
                <a:latin typeface="Barlow Ultra-Bold"/>
                <a:ea typeface="Barlow Ultra-Bold"/>
                <a:cs typeface="Barlow Ultra-Bold"/>
                <a:sym typeface="Barlow Ultra-Bold"/>
              </a:rPr>
              <a:t>INTRODUCTION</a:t>
            </a:r>
          </a:p>
        </p:txBody>
      </p:sp>
      <p:sp>
        <p:nvSpPr>
          <p:cNvPr id="17" name="Freeform 17"/>
          <p:cNvSpPr/>
          <p:nvPr/>
        </p:nvSpPr>
        <p:spPr>
          <a:xfrm>
            <a:off x="16297888" y="8229600"/>
            <a:ext cx="3634792" cy="1989223"/>
          </a:xfrm>
          <a:custGeom>
            <a:avLst/>
            <a:gdLst/>
            <a:ahLst/>
            <a:cxnLst/>
            <a:rect l="l" t="t" r="r" b="b"/>
            <a:pathLst>
              <a:path w="3634792" h="1989223">
                <a:moveTo>
                  <a:pt x="0" y="0"/>
                </a:moveTo>
                <a:lnTo>
                  <a:pt x="3634792" y="0"/>
                </a:lnTo>
                <a:lnTo>
                  <a:pt x="3634792" y="1989223"/>
                </a:lnTo>
                <a:lnTo>
                  <a:pt x="0" y="19892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2"/>
        </a:solidFill>
        <a:effectLst/>
      </p:bgPr>
    </p:bg>
    <p:spTree>
      <p:nvGrpSpPr>
        <p:cNvPr id="1" name=""/>
        <p:cNvGrpSpPr/>
        <p:nvPr/>
      </p:nvGrpSpPr>
      <p:grpSpPr>
        <a:xfrm>
          <a:off x="0" y="0"/>
          <a:ext cx="0" cy="0"/>
          <a:chOff x="0" y="0"/>
          <a:chExt cx="0" cy="0"/>
        </a:xfrm>
      </p:grpSpPr>
      <p:grpSp>
        <p:nvGrpSpPr>
          <p:cNvPr id="2" name="Group 2"/>
          <p:cNvGrpSpPr/>
          <p:nvPr/>
        </p:nvGrpSpPr>
        <p:grpSpPr>
          <a:xfrm>
            <a:off x="0" y="2889751"/>
            <a:ext cx="2800962" cy="7397249"/>
            <a:chOff x="0" y="0"/>
            <a:chExt cx="737702" cy="1948247"/>
          </a:xfrm>
        </p:grpSpPr>
        <p:sp>
          <p:nvSpPr>
            <p:cNvPr id="3" name="Freeform 3"/>
            <p:cNvSpPr/>
            <p:nvPr/>
          </p:nvSpPr>
          <p:spPr>
            <a:xfrm>
              <a:off x="0" y="0"/>
              <a:ext cx="737702" cy="1948247"/>
            </a:xfrm>
            <a:custGeom>
              <a:avLst/>
              <a:gdLst/>
              <a:ahLst/>
              <a:cxnLst/>
              <a:rect l="l" t="t" r="r" b="b"/>
              <a:pathLst>
                <a:path w="737702" h="1948247">
                  <a:moveTo>
                    <a:pt x="0" y="0"/>
                  </a:moveTo>
                  <a:lnTo>
                    <a:pt x="737702" y="0"/>
                  </a:lnTo>
                  <a:lnTo>
                    <a:pt x="737702" y="1948247"/>
                  </a:lnTo>
                  <a:lnTo>
                    <a:pt x="0" y="1948247"/>
                  </a:lnTo>
                  <a:close/>
                </a:path>
              </a:pathLst>
            </a:custGeom>
            <a:solidFill>
              <a:srgbClr val="FDEAFF"/>
            </a:solidFill>
          </p:spPr>
        </p:sp>
        <p:sp>
          <p:nvSpPr>
            <p:cNvPr id="4" name="TextBox 4"/>
            <p:cNvSpPr txBox="1"/>
            <p:nvPr/>
          </p:nvSpPr>
          <p:spPr>
            <a:xfrm>
              <a:off x="0" y="-9525"/>
              <a:ext cx="737702" cy="1957772"/>
            </a:xfrm>
            <a:prstGeom prst="rect">
              <a:avLst/>
            </a:prstGeom>
          </p:spPr>
          <p:txBody>
            <a:bodyPr lIns="50800" tIns="50800" rIns="50800" bIns="50800" rtlCol="0" anchor="ctr"/>
            <a:lstStyle/>
            <a:p>
              <a:pPr algn="ctr">
                <a:lnSpc>
                  <a:spcPts val="2999"/>
                </a:lnSpc>
              </a:pPr>
              <a:endParaRPr/>
            </a:p>
          </p:txBody>
        </p:sp>
      </p:grpSp>
      <p:grpSp>
        <p:nvGrpSpPr>
          <p:cNvPr id="5" name="Group 5"/>
          <p:cNvGrpSpPr/>
          <p:nvPr/>
        </p:nvGrpSpPr>
        <p:grpSpPr>
          <a:xfrm>
            <a:off x="14036137" y="-866775"/>
            <a:ext cx="6558959" cy="2889751"/>
            <a:chOff x="0" y="0"/>
            <a:chExt cx="1727463" cy="761087"/>
          </a:xfrm>
        </p:grpSpPr>
        <p:sp>
          <p:nvSpPr>
            <p:cNvPr id="6" name="Freeform 6"/>
            <p:cNvSpPr/>
            <p:nvPr/>
          </p:nvSpPr>
          <p:spPr>
            <a:xfrm>
              <a:off x="0" y="0"/>
              <a:ext cx="1727463" cy="761087"/>
            </a:xfrm>
            <a:custGeom>
              <a:avLst/>
              <a:gdLst/>
              <a:ahLst/>
              <a:cxnLst/>
              <a:rect l="l" t="t" r="r" b="b"/>
              <a:pathLst>
                <a:path w="1727463" h="761087">
                  <a:moveTo>
                    <a:pt x="0" y="0"/>
                  </a:moveTo>
                  <a:lnTo>
                    <a:pt x="1727463" y="0"/>
                  </a:lnTo>
                  <a:lnTo>
                    <a:pt x="1727463" y="761087"/>
                  </a:lnTo>
                  <a:lnTo>
                    <a:pt x="0" y="761087"/>
                  </a:lnTo>
                  <a:close/>
                </a:path>
              </a:pathLst>
            </a:custGeom>
            <a:solidFill>
              <a:srgbClr val="FDEAFF"/>
            </a:solidFill>
          </p:spPr>
        </p:sp>
        <p:sp>
          <p:nvSpPr>
            <p:cNvPr id="7" name="TextBox 7"/>
            <p:cNvSpPr txBox="1"/>
            <p:nvPr/>
          </p:nvSpPr>
          <p:spPr>
            <a:xfrm>
              <a:off x="0" y="-9525"/>
              <a:ext cx="1727463" cy="770612"/>
            </a:xfrm>
            <a:prstGeom prst="rect">
              <a:avLst/>
            </a:prstGeom>
          </p:spPr>
          <p:txBody>
            <a:bodyPr lIns="50800" tIns="50800" rIns="50800" bIns="50800" rtlCol="0" anchor="ctr"/>
            <a:lstStyle/>
            <a:p>
              <a:pPr algn="ctr">
                <a:lnSpc>
                  <a:spcPts val="2999"/>
                </a:lnSpc>
              </a:pPr>
              <a:endParaRPr/>
            </a:p>
          </p:txBody>
        </p:sp>
      </p:grpSp>
      <p:sp>
        <p:nvSpPr>
          <p:cNvPr id="8" name="Freeform 8"/>
          <p:cNvSpPr/>
          <p:nvPr/>
        </p:nvSpPr>
        <p:spPr>
          <a:xfrm rot="5400000">
            <a:off x="15441904" y="7474993"/>
            <a:ext cx="3634792" cy="1989223"/>
          </a:xfrm>
          <a:custGeom>
            <a:avLst/>
            <a:gdLst/>
            <a:ahLst/>
            <a:cxnLst/>
            <a:rect l="l" t="t" r="r" b="b"/>
            <a:pathLst>
              <a:path w="3634792" h="1989223">
                <a:moveTo>
                  <a:pt x="0" y="0"/>
                </a:moveTo>
                <a:lnTo>
                  <a:pt x="3634792" y="0"/>
                </a:lnTo>
                <a:lnTo>
                  <a:pt x="3634792" y="1989222"/>
                </a:lnTo>
                <a:lnTo>
                  <a:pt x="0" y="19892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15920666" y="4403905"/>
            <a:ext cx="1871745" cy="524089"/>
          </a:xfrm>
          <a:custGeom>
            <a:avLst/>
            <a:gdLst/>
            <a:ahLst/>
            <a:cxnLst/>
            <a:rect l="l" t="t" r="r" b="b"/>
            <a:pathLst>
              <a:path w="1871745" h="524089">
                <a:moveTo>
                  <a:pt x="0" y="0"/>
                </a:moveTo>
                <a:lnTo>
                  <a:pt x="1871745" y="0"/>
                </a:lnTo>
                <a:lnTo>
                  <a:pt x="1871745" y="524088"/>
                </a:lnTo>
                <a:lnTo>
                  <a:pt x="0" y="5240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261823" y="4665949"/>
            <a:ext cx="1208331" cy="2575899"/>
          </a:xfrm>
          <a:custGeom>
            <a:avLst/>
            <a:gdLst/>
            <a:ahLst/>
            <a:cxnLst/>
            <a:rect l="l" t="t" r="r" b="b"/>
            <a:pathLst>
              <a:path w="1208331" h="2575899">
                <a:moveTo>
                  <a:pt x="0" y="0"/>
                </a:moveTo>
                <a:lnTo>
                  <a:pt x="1208330" y="0"/>
                </a:lnTo>
                <a:lnTo>
                  <a:pt x="1208330" y="2575899"/>
                </a:lnTo>
                <a:lnTo>
                  <a:pt x="0" y="257589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6509960" y="7044803"/>
            <a:ext cx="1570325" cy="1990167"/>
          </a:xfrm>
          <a:custGeom>
            <a:avLst/>
            <a:gdLst/>
            <a:ahLst/>
            <a:cxnLst/>
            <a:rect l="l" t="t" r="r" b="b"/>
            <a:pathLst>
              <a:path w="1570325" h="1990167">
                <a:moveTo>
                  <a:pt x="0" y="0"/>
                </a:moveTo>
                <a:lnTo>
                  <a:pt x="1570325" y="0"/>
                </a:lnTo>
                <a:lnTo>
                  <a:pt x="1570325" y="1990167"/>
                </a:lnTo>
                <a:lnTo>
                  <a:pt x="0" y="199016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2" name="Freeform 12"/>
          <p:cNvSpPr/>
          <p:nvPr/>
        </p:nvSpPr>
        <p:spPr>
          <a:xfrm>
            <a:off x="15133902" y="112468"/>
            <a:ext cx="2470054" cy="2483601"/>
          </a:xfrm>
          <a:custGeom>
            <a:avLst/>
            <a:gdLst/>
            <a:ahLst/>
            <a:cxnLst/>
            <a:rect l="l" t="t" r="r" b="b"/>
            <a:pathLst>
              <a:path w="2470054" h="2483601">
                <a:moveTo>
                  <a:pt x="0" y="0"/>
                </a:moveTo>
                <a:lnTo>
                  <a:pt x="2470054" y="0"/>
                </a:lnTo>
                <a:lnTo>
                  <a:pt x="2470054" y="2483602"/>
                </a:lnTo>
                <a:lnTo>
                  <a:pt x="0" y="2483602"/>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13" name="Freeform 13"/>
          <p:cNvSpPr/>
          <p:nvPr/>
        </p:nvSpPr>
        <p:spPr>
          <a:xfrm>
            <a:off x="125787" y="7808790"/>
            <a:ext cx="2549387" cy="889968"/>
          </a:xfrm>
          <a:custGeom>
            <a:avLst/>
            <a:gdLst/>
            <a:ahLst/>
            <a:cxnLst/>
            <a:rect l="l" t="t" r="r" b="b"/>
            <a:pathLst>
              <a:path w="2549387" h="889968">
                <a:moveTo>
                  <a:pt x="0" y="0"/>
                </a:moveTo>
                <a:lnTo>
                  <a:pt x="2549387" y="0"/>
                </a:lnTo>
                <a:lnTo>
                  <a:pt x="2549387" y="889968"/>
                </a:lnTo>
                <a:lnTo>
                  <a:pt x="0" y="889968"/>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4" name="TextBox 14"/>
          <p:cNvSpPr txBox="1"/>
          <p:nvPr/>
        </p:nvSpPr>
        <p:spPr>
          <a:xfrm>
            <a:off x="572246" y="872421"/>
            <a:ext cx="4804481" cy="933450"/>
          </a:xfrm>
          <a:prstGeom prst="rect">
            <a:avLst/>
          </a:prstGeom>
        </p:spPr>
        <p:txBody>
          <a:bodyPr lIns="0" tIns="0" rIns="0" bIns="0" rtlCol="0" anchor="t">
            <a:spAutoFit/>
          </a:bodyPr>
          <a:lstStyle/>
          <a:p>
            <a:pPr algn="l">
              <a:lnSpc>
                <a:spcPts val="7200"/>
              </a:lnSpc>
            </a:pPr>
            <a:r>
              <a:rPr lang="en-US" sz="6000" b="1" spc="600">
                <a:solidFill>
                  <a:srgbClr val="249E4E"/>
                </a:solidFill>
                <a:latin typeface="Barlow Ultra-Bold"/>
                <a:ea typeface="Barlow Ultra-Bold"/>
                <a:cs typeface="Barlow Ultra-Bold"/>
                <a:sym typeface="Barlow Ultra-Bold"/>
              </a:rPr>
              <a:t>OVERVIEW:</a:t>
            </a:r>
          </a:p>
        </p:txBody>
      </p:sp>
      <p:sp>
        <p:nvSpPr>
          <p:cNvPr id="15" name="TextBox 15"/>
          <p:cNvSpPr txBox="1"/>
          <p:nvPr/>
        </p:nvSpPr>
        <p:spPr>
          <a:xfrm>
            <a:off x="4036535" y="2586545"/>
            <a:ext cx="11235175" cy="6501780"/>
          </a:xfrm>
          <a:prstGeom prst="rect">
            <a:avLst/>
          </a:prstGeom>
        </p:spPr>
        <p:txBody>
          <a:bodyPr lIns="0" tIns="0" rIns="0" bIns="0" rtlCol="0" anchor="t">
            <a:spAutoFit/>
          </a:bodyPr>
          <a:lstStyle/>
          <a:p>
            <a:pPr marL="865776" lvl="1" indent="-514350" algn="l">
              <a:lnSpc>
                <a:spcPts val="3906"/>
              </a:lnSpc>
              <a:buFont typeface="+mj-lt"/>
              <a:buAutoNum type="arabicPeriod"/>
            </a:pPr>
            <a:r>
              <a:rPr lang="en-US" sz="3255" b="1" dirty="0">
                <a:solidFill>
                  <a:srgbClr val="000000"/>
                </a:solidFill>
                <a:latin typeface="Barlow"/>
                <a:ea typeface="Barlow"/>
                <a:cs typeface="Barlow"/>
                <a:sym typeface="Barlow"/>
              </a:rPr>
              <a:t>Goal: </a:t>
            </a:r>
            <a:r>
              <a:rPr lang="en-US" sz="3255" dirty="0">
                <a:solidFill>
                  <a:srgbClr val="000000"/>
                </a:solidFill>
                <a:latin typeface="Barlow"/>
                <a:ea typeface="Barlow"/>
                <a:cs typeface="Barlow"/>
                <a:sym typeface="Barlow"/>
              </a:rPr>
              <a:t>To create a centralized, secure, and efficient system for uploading, managing, and retrieving digital documents.</a:t>
            </a:r>
          </a:p>
          <a:p>
            <a:pPr marL="865776" lvl="1" indent="-514350" algn="l">
              <a:lnSpc>
                <a:spcPts val="3906"/>
              </a:lnSpc>
              <a:buFont typeface="+mj-lt"/>
              <a:buAutoNum type="arabicPeriod"/>
            </a:pPr>
            <a:r>
              <a:rPr lang="en-US" sz="3255" b="1" dirty="0">
                <a:solidFill>
                  <a:srgbClr val="000000"/>
                </a:solidFill>
                <a:latin typeface="Barlow"/>
                <a:ea typeface="Barlow"/>
                <a:cs typeface="Barlow"/>
                <a:sym typeface="Barlow"/>
              </a:rPr>
              <a:t>Frontend Role: </a:t>
            </a:r>
            <a:r>
              <a:rPr lang="en-US" sz="3255" dirty="0">
                <a:solidFill>
                  <a:srgbClr val="000000"/>
                </a:solidFill>
                <a:latin typeface="Barlow"/>
                <a:ea typeface="Barlow"/>
                <a:cs typeface="Barlow"/>
                <a:sym typeface="Barlow"/>
              </a:rPr>
              <a:t>Provides a user-friendly interface for users to interact with the system, including document upload, search, view, and download features.</a:t>
            </a:r>
          </a:p>
          <a:p>
            <a:pPr marL="865776" lvl="1" indent="-514350" algn="l">
              <a:lnSpc>
                <a:spcPts val="3906"/>
              </a:lnSpc>
              <a:buFont typeface="+mj-lt"/>
              <a:buAutoNum type="arabicPeriod"/>
            </a:pPr>
            <a:r>
              <a:rPr lang="en-US" sz="3255" b="1" dirty="0">
                <a:solidFill>
                  <a:srgbClr val="000000"/>
                </a:solidFill>
                <a:latin typeface="Barlow"/>
                <a:ea typeface="Barlow"/>
                <a:cs typeface="Barlow"/>
                <a:sym typeface="Barlow"/>
              </a:rPr>
              <a:t>Backend Role: </a:t>
            </a:r>
            <a:r>
              <a:rPr lang="en-US" sz="3255" dirty="0">
                <a:solidFill>
                  <a:srgbClr val="000000"/>
                </a:solidFill>
                <a:latin typeface="Barlow"/>
                <a:ea typeface="Barlow"/>
                <a:cs typeface="Barlow"/>
                <a:sym typeface="Barlow"/>
              </a:rPr>
              <a:t>Handles business logic, user authentication (e.g., with JWT), API communication, and controls access to document-related operations.</a:t>
            </a:r>
          </a:p>
          <a:p>
            <a:pPr marL="865776" lvl="1" indent="-514350" algn="l">
              <a:lnSpc>
                <a:spcPts val="3906"/>
              </a:lnSpc>
              <a:buFont typeface="+mj-lt"/>
              <a:buAutoNum type="arabicPeriod"/>
            </a:pPr>
            <a:r>
              <a:rPr lang="en-US" sz="3255" b="1" dirty="0">
                <a:solidFill>
                  <a:srgbClr val="000000"/>
                </a:solidFill>
                <a:latin typeface="Barlow"/>
                <a:ea typeface="Barlow"/>
                <a:cs typeface="Barlow"/>
                <a:sym typeface="Barlow"/>
              </a:rPr>
              <a:t>Database Role: </a:t>
            </a:r>
            <a:r>
              <a:rPr lang="en-US" sz="3255" dirty="0">
                <a:solidFill>
                  <a:srgbClr val="000000"/>
                </a:solidFill>
                <a:latin typeface="Barlow"/>
                <a:ea typeface="Barlow"/>
                <a:cs typeface="Barlow"/>
                <a:sym typeface="Barlow"/>
              </a:rPr>
              <a:t>Stores user data, document metadata, and file references using MongoDB, enabling flexible and scalable data management.</a:t>
            </a:r>
          </a:p>
          <a:p>
            <a:pPr marL="514350" indent="-514350" algn="l">
              <a:lnSpc>
                <a:spcPts val="3906"/>
              </a:lnSpc>
              <a:buFont typeface="+mj-lt"/>
              <a:buAutoNum type="arabicPeriod"/>
            </a:pPr>
            <a:endParaRPr lang="en-US" sz="3255" dirty="0">
              <a:solidFill>
                <a:srgbClr val="000000"/>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EAFF"/>
        </a:solidFill>
        <a:effectLst/>
      </p:bgPr>
    </p:bg>
    <p:spTree>
      <p:nvGrpSpPr>
        <p:cNvPr id="1" name=""/>
        <p:cNvGrpSpPr/>
        <p:nvPr/>
      </p:nvGrpSpPr>
      <p:grpSpPr>
        <a:xfrm>
          <a:off x="0" y="0"/>
          <a:ext cx="0" cy="0"/>
          <a:chOff x="0" y="0"/>
          <a:chExt cx="0" cy="0"/>
        </a:xfrm>
      </p:grpSpPr>
      <p:grpSp>
        <p:nvGrpSpPr>
          <p:cNvPr id="2" name="Group 2"/>
          <p:cNvGrpSpPr/>
          <p:nvPr/>
        </p:nvGrpSpPr>
        <p:grpSpPr>
          <a:xfrm>
            <a:off x="1417574" y="6631335"/>
            <a:ext cx="3298364" cy="3122265"/>
            <a:chOff x="0" y="-9525"/>
            <a:chExt cx="868705" cy="822325"/>
          </a:xfrm>
        </p:grpSpPr>
        <p:sp>
          <p:nvSpPr>
            <p:cNvPr id="3" name="Freeform 3"/>
            <p:cNvSpPr/>
            <p:nvPr/>
          </p:nvSpPr>
          <p:spPr>
            <a:xfrm>
              <a:off x="55905" y="0"/>
              <a:ext cx="812800" cy="812800"/>
            </a:xfrm>
            <a:custGeom>
              <a:avLst/>
              <a:gdLst/>
              <a:ahLst/>
              <a:cxnLst/>
              <a:rect l="l" t="t" r="r" b="b"/>
              <a:pathLst>
                <a:path w="812800" h="812800">
                  <a:moveTo>
                    <a:pt x="0" y="0"/>
                  </a:moveTo>
                  <a:lnTo>
                    <a:pt x="812800" y="0"/>
                  </a:lnTo>
                  <a:lnTo>
                    <a:pt x="812800" y="812800"/>
                  </a:lnTo>
                  <a:lnTo>
                    <a:pt x="0" y="812800"/>
                  </a:lnTo>
                  <a:close/>
                </a:path>
              </a:pathLst>
            </a:custGeom>
            <a:solidFill>
              <a:srgbClr val="FFFDF2"/>
            </a:solidFill>
          </p:spPr>
        </p:sp>
        <p:sp>
          <p:nvSpPr>
            <p:cNvPr id="4" name="TextBox 4"/>
            <p:cNvSpPr txBox="1"/>
            <p:nvPr/>
          </p:nvSpPr>
          <p:spPr>
            <a:xfrm>
              <a:off x="0" y="-9525"/>
              <a:ext cx="812800" cy="822325"/>
            </a:xfrm>
            <a:prstGeom prst="rect">
              <a:avLst/>
            </a:prstGeom>
          </p:spPr>
          <p:txBody>
            <a:bodyPr lIns="50800" tIns="50800" rIns="50800" bIns="50800" rtlCol="0" anchor="ctr"/>
            <a:lstStyle/>
            <a:p>
              <a:pPr algn="ctr">
                <a:lnSpc>
                  <a:spcPts val="2999"/>
                </a:lnSpc>
              </a:pPr>
              <a:endParaRPr/>
            </a:p>
          </p:txBody>
        </p:sp>
      </p:grpSp>
      <p:grpSp>
        <p:nvGrpSpPr>
          <p:cNvPr id="5" name="Group 5"/>
          <p:cNvGrpSpPr/>
          <p:nvPr/>
        </p:nvGrpSpPr>
        <p:grpSpPr>
          <a:xfrm>
            <a:off x="14350196" y="1028700"/>
            <a:ext cx="2307577" cy="2490926"/>
            <a:chOff x="0" y="0"/>
            <a:chExt cx="607757" cy="656046"/>
          </a:xfrm>
        </p:grpSpPr>
        <p:sp>
          <p:nvSpPr>
            <p:cNvPr id="6" name="Freeform 6"/>
            <p:cNvSpPr/>
            <p:nvPr/>
          </p:nvSpPr>
          <p:spPr>
            <a:xfrm>
              <a:off x="0" y="0"/>
              <a:ext cx="607757" cy="656046"/>
            </a:xfrm>
            <a:custGeom>
              <a:avLst/>
              <a:gdLst/>
              <a:ahLst/>
              <a:cxnLst/>
              <a:rect l="l" t="t" r="r" b="b"/>
              <a:pathLst>
                <a:path w="607757" h="656046">
                  <a:moveTo>
                    <a:pt x="0" y="0"/>
                  </a:moveTo>
                  <a:lnTo>
                    <a:pt x="607757" y="0"/>
                  </a:lnTo>
                  <a:lnTo>
                    <a:pt x="607757" y="656046"/>
                  </a:lnTo>
                  <a:lnTo>
                    <a:pt x="0" y="656046"/>
                  </a:lnTo>
                  <a:close/>
                </a:path>
              </a:pathLst>
            </a:custGeom>
            <a:solidFill>
              <a:srgbClr val="FFFDF2"/>
            </a:solidFill>
          </p:spPr>
        </p:sp>
        <p:sp>
          <p:nvSpPr>
            <p:cNvPr id="7" name="TextBox 7"/>
            <p:cNvSpPr txBox="1"/>
            <p:nvPr/>
          </p:nvSpPr>
          <p:spPr>
            <a:xfrm>
              <a:off x="0" y="-9525"/>
              <a:ext cx="607757" cy="665571"/>
            </a:xfrm>
            <a:prstGeom prst="rect">
              <a:avLst/>
            </a:prstGeom>
          </p:spPr>
          <p:txBody>
            <a:bodyPr lIns="50800" tIns="50800" rIns="50800" bIns="50800" rtlCol="0" anchor="ctr"/>
            <a:lstStyle/>
            <a:p>
              <a:pPr algn="ctr">
                <a:lnSpc>
                  <a:spcPts val="2999"/>
                </a:lnSpc>
              </a:pPr>
              <a:endParaRPr/>
            </a:p>
          </p:txBody>
        </p:sp>
      </p:grpSp>
      <p:sp>
        <p:nvSpPr>
          <p:cNvPr id="8" name="Freeform 8"/>
          <p:cNvSpPr/>
          <p:nvPr/>
        </p:nvSpPr>
        <p:spPr>
          <a:xfrm rot="-1183868">
            <a:off x="14692989" y="938750"/>
            <a:ext cx="1931117" cy="3053150"/>
          </a:xfrm>
          <a:custGeom>
            <a:avLst/>
            <a:gdLst/>
            <a:ahLst/>
            <a:cxnLst/>
            <a:rect l="l" t="t" r="r" b="b"/>
            <a:pathLst>
              <a:path w="1931117" h="3053150">
                <a:moveTo>
                  <a:pt x="0" y="0"/>
                </a:moveTo>
                <a:lnTo>
                  <a:pt x="1931117" y="0"/>
                </a:lnTo>
                <a:lnTo>
                  <a:pt x="1931117" y="3053150"/>
                </a:lnTo>
                <a:lnTo>
                  <a:pt x="0" y="3053150"/>
                </a:lnTo>
                <a:lnTo>
                  <a:pt x="0" y="0"/>
                </a:lnTo>
                <a:close/>
              </a:path>
            </a:pathLst>
          </a:custGeom>
          <a:blipFill>
            <a:blip r:embed="rId2"/>
            <a:stretch>
              <a:fillRect/>
            </a:stretch>
          </a:blipFill>
        </p:spPr>
      </p:sp>
      <p:sp>
        <p:nvSpPr>
          <p:cNvPr id="9" name="Freeform 9"/>
          <p:cNvSpPr/>
          <p:nvPr/>
        </p:nvSpPr>
        <p:spPr>
          <a:xfrm>
            <a:off x="9641156" y="-20574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rot="1170875">
            <a:off x="16688395" y="126083"/>
            <a:ext cx="1141810" cy="1805233"/>
          </a:xfrm>
          <a:custGeom>
            <a:avLst/>
            <a:gdLst/>
            <a:ahLst/>
            <a:cxnLst/>
            <a:rect l="l" t="t" r="r" b="b"/>
            <a:pathLst>
              <a:path w="1141810" h="1805233">
                <a:moveTo>
                  <a:pt x="0" y="0"/>
                </a:moveTo>
                <a:lnTo>
                  <a:pt x="1141810" y="0"/>
                </a:lnTo>
                <a:lnTo>
                  <a:pt x="1141810" y="1805234"/>
                </a:lnTo>
                <a:lnTo>
                  <a:pt x="0" y="1805234"/>
                </a:lnTo>
                <a:lnTo>
                  <a:pt x="0" y="0"/>
                </a:lnTo>
                <a:close/>
              </a:path>
            </a:pathLst>
          </a:custGeom>
          <a:blipFill>
            <a:blip r:embed="rId2"/>
            <a:stretch>
              <a:fillRect/>
            </a:stretch>
          </a:blipFill>
        </p:spPr>
      </p:sp>
      <p:sp>
        <p:nvSpPr>
          <p:cNvPr id="11" name="Freeform 11"/>
          <p:cNvSpPr/>
          <p:nvPr/>
        </p:nvSpPr>
        <p:spPr>
          <a:xfrm>
            <a:off x="-4043693" y="875870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5246887" y="2772577"/>
            <a:ext cx="10788046" cy="6027356"/>
          </a:xfrm>
          <a:prstGeom prst="rect">
            <a:avLst/>
          </a:prstGeom>
        </p:spPr>
        <p:txBody>
          <a:bodyPr lIns="0" tIns="0" rIns="0" bIns="0" rtlCol="0" anchor="t">
            <a:spAutoFit/>
          </a:bodyPr>
          <a:lstStyle/>
          <a:p>
            <a:pPr marL="852098" lvl="1" indent="-514350" algn="l">
              <a:lnSpc>
                <a:spcPts val="5256"/>
              </a:lnSpc>
              <a:buFont typeface="+mj-lt"/>
              <a:buAutoNum type="arabicPeriod"/>
            </a:pPr>
            <a:r>
              <a:rPr lang="en-US" sz="3128" b="1" dirty="0">
                <a:solidFill>
                  <a:srgbClr val="000000"/>
                </a:solidFill>
                <a:latin typeface="Barlow"/>
                <a:ea typeface="Barlow"/>
                <a:cs typeface="Barlow"/>
                <a:sym typeface="Barlow"/>
              </a:rPr>
              <a:t>Core Components</a:t>
            </a:r>
          </a:p>
          <a:p>
            <a:pPr algn="l">
              <a:lnSpc>
                <a:spcPts val="5256"/>
              </a:lnSpc>
            </a:pPr>
            <a:r>
              <a:rPr lang="en-US" sz="3128" dirty="0">
                <a:solidFill>
                  <a:srgbClr val="000000"/>
                </a:solidFill>
                <a:latin typeface="Barlow"/>
                <a:ea typeface="Barlow"/>
                <a:cs typeface="Barlow"/>
                <a:sym typeface="Barlow"/>
              </a:rPr>
              <a:t>	Upload, search, and manage documents</a:t>
            </a:r>
          </a:p>
          <a:p>
            <a:pPr marL="337748" lvl="1" algn="l">
              <a:lnSpc>
                <a:spcPts val="5256"/>
              </a:lnSpc>
            </a:pPr>
            <a:r>
              <a:rPr lang="en-US" sz="3128" b="1" dirty="0">
                <a:solidFill>
                  <a:srgbClr val="000000"/>
                </a:solidFill>
                <a:latin typeface="Barlow"/>
                <a:ea typeface="Barlow"/>
                <a:cs typeface="Barlow"/>
                <a:sym typeface="Barlow"/>
              </a:rPr>
              <a:t>2.Interactive Features</a:t>
            </a:r>
          </a:p>
          <a:p>
            <a:pPr algn="l">
              <a:lnSpc>
                <a:spcPts val="5256"/>
              </a:lnSpc>
            </a:pPr>
            <a:r>
              <a:rPr lang="en-US" sz="3128" dirty="0">
                <a:solidFill>
                  <a:srgbClr val="000000"/>
                </a:solidFill>
                <a:latin typeface="Barlow"/>
                <a:ea typeface="Barlow"/>
                <a:cs typeface="Barlow"/>
                <a:sym typeface="Barlow"/>
              </a:rPr>
              <a:t>	Live upload status and version control</a:t>
            </a:r>
          </a:p>
          <a:p>
            <a:pPr marL="337748" lvl="1" algn="l">
              <a:lnSpc>
                <a:spcPts val="5256"/>
              </a:lnSpc>
            </a:pPr>
            <a:r>
              <a:rPr lang="en-US" sz="3128" b="1" dirty="0">
                <a:solidFill>
                  <a:srgbClr val="000000"/>
                </a:solidFill>
                <a:latin typeface="Barlow"/>
                <a:ea typeface="Barlow"/>
                <a:cs typeface="Barlow"/>
                <a:sym typeface="Barlow"/>
              </a:rPr>
              <a:t>3.State Management</a:t>
            </a:r>
          </a:p>
          <a:p>
            <a:pPr algn="l">
              <a:lnSpc>
                <a:spcPts val="5256"/>
              </a:lnSpc>
            </a:pPr>
            <a:r>
              <a:rPr lang="en-US" sz="3128" dirty="0">
                <a:solidFill>
                  <a:srgbClr val="000000"/>
                </a:solidFill>
                <a:latin typeface="Barlow"/>
                <a:ea typeface="Barlow"/>
                <a:cs typeface="Barlow"/>
                <a:sym typeface="Barlow"/>
              </a:rPr>
              <a:t>	Backend ensures data consistency</a:t>
            </a:r>
          </a:p>
          <a:p>
            <a:pPr marL="337748" lvl="1" algn="l">
              <a:lnSpc>
                <a:spcPts val="5256"/>
              </a:lnSpc>
            </a:pPr>
            <a:r>
              <a:rPr lang="en-US" sz="3128" b="1" dirty="0">
                <a:solidFill>
                  <a:srgbClr val="000000"/>
                </a:solidFill>
                <a:latin typeface="Barlow"/>
                <a:ea typeface="Barlow"/>
                <a:cs typeface="Barlow"/>
                <a:sym typeface="Barlow"/>
              </a:rPr>
              <a:t>4.Responsive Design</a:t>
            </a:r>
          </a:p>
          <a:p>
            <a:pPr algn="l">
              <a:lnSpc>
                <a:spcPts val="5256"/>
              </a:lnSpc>
            </a:pPr>
            <a:r>
              <a:rPr lang="en-US" sz="3128" dirty="0">
                <a:solidFill>
                  <a:srgbClr val="000000"/>
                </a:solidFill>
                <a:latin typeface="Barlow"/>
                <a:ea typeface="Barlow"/>
                <a:cs typeface="Barlow"/>
                <a:sym typeface="Barlow"/>
              </a:rPr>
              <a:t>	Works well on all devices</a:t>
            </a:r>
          </a:p>
          <a:p>
            <a:pPr algn="l">
              <a:lnSpc>
                <a:spcPts val="5256"/>
              </a:lnSpc>
            </a:pPr>
            <a:endParaRPr lang="en-US" sz="3128" dirty="0">
              <a:solidFill>
                <a:srgbClr val="000000"/>
              </a:solidFill>
              <a:latin typeface="Barlow"/>
              <a:ea typeface="Barlow"/>
              <a:cs typeface="Barlow"/>
              <a:sym typeface="Barlow"/>
            </a:endParaRPr>
          </a:p>
        </p:txBody>
      </p:sp>
      <p:sp>
        <p:nvSpPr>
          <p:cNvPr id="13" name="Freeform 13"/>
          <p:cNvSpPr/>
          <p:nvPr/>
        </p:nvSpPr>
        <p:spPr>
          <a:xfrm>
            <a:off x="15073430" y="8707349"/>
            <a:ext cx="2185870" cy="763067"/>
          </a:xfrm>
          <a:custGeom>
            <a:avLst/>
            <a:gdLst/>
            <a:ahLst/>
            <a:cxnLst/>
            <a:rect l="l" t="t" r="r" b="b"/>
            <a:pathLst>
              <a:path w="2185870" h="763067">
                <a:moveTo>
                  <a:pt x="0" y="0"/>
                </a:moveTo>
                <a:lnTo>
                  <a:pt x="2185870" y="0"/>
                </a:lnTo>
                <a:lnTo>
                  <a:pt x="2185870" y="763067"/>
                </a:lnTo>
                <a:lnTo>
                  <a:pt x="0" y="76306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4" name="Freeform 14"/>
          <p:cNvSpPr/>
          <p:nvPr/>
        </p:nvSpPr>
        <p:spPr>
          <a:xfrm>
            <a:off x="1943012" y="7197055"/>
            <a:ext cx="2624198" cy="2466746"/>
          </a:xfrm>
          <a:custGeom>
            <a:avLst/>
            <a:gdLst/>
            <a:ahLst/>
            <a:cxnLst/>
            <a:rect l="l" t="t" r="r" b="b"/>
            <a:pathLst>
              <a:path w="2624198" h="2466746">
                <a:moveTo>
                  <a:pt x="0" y="0"/>
                </a:moveTo>
                <a:lnTo>
                  <a:pt x="2624198" y="0"/>
                </a:lnTo>
                <a:lnTo>
                  <a:pt x="2624198" y="2466746"/>
                </a:lnTo>
                <a:lnTo>
                  <a:pt x="0" y="246674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TextBox 15"/>
          <p:cNvSpPr txBox="1"/>
          <p:nvPr/>
        </p:nvSpPr>
        <p:spPr>
          <a:xfrm>
            <a:off x="870051" y="1531875"/>
            <a:ext cx="9292518" cy="1847850"/>
          </a:xfrm>
          <a:prstGeom prst="rect">
            <a:avLst/>
          </a:prstGeom>
        </p:spPr>
        <p:txBody>
          <a:bodyPr lIns="0" tIns="0" rIns="0" bIns="0" rtlCol="0" anchor="t">
            <a:spAutoFit/>
          </a:bodyPr>
          <a:lstStyle/>
          <a:p>
            <a:pPr algn="l">
              <a:lnSpc>
                <a:spcPts val="7200"/>
              </a:lnSpc>
            </a:pPr>
            <a:r>
              <a:rPr lang="en-US" sz="6000" b="1" spc="600">
                <a:solidFill>
                  <a:srgbClr val="8363B8"/>
                </a:solidFill>
                <a:latin typeface="Barlow Ultra-Bold"/>
                <a:ea typeface="Barlow Ultra-Bold"/>
                <a:cs typeface="Barlow Ultra-Bold"/>
                <a:sym typeface="Barlow Ultra-Bold"/>
              </a:rPr>
              <a:t>FRONTEND: </a:t>
            </a:r>
          </a:p>
          <a:p>
            <a:pPr algn="l">
              <a:lnSpc>
                <a:spcPts val="7200"/>
              </a:lnSpc>
            </a:pPr>
            <a:endParaRPr lang="en-US" sz="6000" b="1" spc="600">
              <a:solidFill>
                <a:srgbClr val="8363B8"/>
              </a:solidFill>
              <a:latin typeface="Barlow Ultra-Bold"/>
              <a:ea typeface="Barlow Ultra-Bold"/>
              <a:cs typeface="Barlow Ultra-Bold"/>
              <a:sym typeface="Barlow Ul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DF2"/>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4166634" cy="6185844"/>
            <a:chOff x="0" y="0"/>
            <a:chExt cx="1097385" cy="1629193"/>
          </a:xfrm>
        </p:grpSpPr>
        <p:sp>
          <p:nvSpPr>
            <p:cNvPr id="3" name="Freeform 3"/>
            <p:cNvSpPr/>
            <p:nvPr/>
          </p:nvSpPr>
          <p:spPr>
            <a:xfrm>
              <a:off x="0" y="0"/>
              <a:ext cx="1097385" cy="1629193"/>
            </a:xfrm>
            <a:custGeom>
              <a:avLst/>
              <a:gdLst/>
              <a:ahLst/>
              <a:cxnLst/>
              <a:rect l="l" t="t" r="r" b="b"/>
              <a:pathLst>
                <a:path w="1097385" h="1629193">
                  <a:moveTo>
                    <a:pt x="0" y="0"/>
                  </a:moveTo>
                  <a:lnTo>
                    <a:pt x="1097385" y="0"/>
                  </a:lnTo>
                  <a:lnTo>
                    <a:pt x="1097385" y="1629193"/>
                  </a:lnTo>
                  <a:lnTo>
                    <a:pt x="0" y="1629193"/>
                  </a:lnTo>
                  <a:close/>
                </a:path>
              </a:pathLst>
            </a:custGeom>
            <a:solidFill>
              <a:srgbClr val="FDEAFF"/>
            </a:solidFill>
          </p:spPr>
        </p:sp>
        <p:sp>
          <p:nvSpPr>
            <p:cNvPr id="4" name="TextBox 4"/>
            <p:cNvSpPr txBox="1"/>
            <p:nvPr/>
          </p:nvSpPr>
          <p:spPr>
            <a:xfrm>
              <a:off x="0" y="-9525"/>
              <a:ext cx="1097385" cy="1638718"/>
            </a:xfrm>
            <a:prstGeom prst="rect">
              <a:avLst/>
            </a:prstGeom>
          </p:spPr>
          <p:txBody>
            <a:bodyPr lIns="50800" tIns="50800" rIns="50800" bIns="50800" rtlCol="0" anchor="ctr"/>
            <a:lstStyle/>
            <a:p>
              <a:pPr algn="ctr">
                <a:lnSpc>
                  <a:spcPts val="2999"/>
                </a:lnSpc>
              </a:pPr>
              <a:endParaRPr/>
            </a:p>
          </p:txBody>
        </p:sp>
      </p:grpSp>
      <p:grpSp>
        <p:nvGrpSpPr>
          <p:cNvPr id="5" name="Group 5"/>
          <p:cNvGrpSpPr/>
          <p:nvPr/>
        </p:nvGrpSpPr>
        <p:grpSpPr>
          <a:xfrm>
            <a:off x="16593436" y="6185844"/>
            <a:ext cx="1694564" cy="4101156"/>
            <a:chOff x="0" y="0"/>
            <a:chExt cx="446305" cy="1080140"/>
          </a:xfrm>
        </p:grpSpPr>
        <p:sp>
          <p:nvSpPr>
            <p:cNvPr id="6" name="Freeform 6"/>
            <p:cNvSpPr/>
            <p:nvPr/>
          </p:nvSpPr>
          <p:spPr>
            <a:xfrm>
              <a:off x="0" y="0"/>
              <a:ext cx="446305" cy="1080140"/>
            </a:xfrm>
            <a:custGeom>
              <a:avLst/>
              <a:gdLst/>
              <a:ahLst/>
              <a:cxnLst/>
              <a:rect l="l" t="t" r="r" b="b"/>
              <a:pathLst>
                <a:path w="446305" h="1080140">
                  <a:moveTo>
                    <a:pt x="0" y="0"/>
                  </a:moveTo>
                  <a:lnTo>
                    <a:pt x="446305" y="0"/>
                  </a:lnTo>
                  <a:lnTo>
                    <a:pt x="446305" y="1080140"/>
                  </a:lnTo>
                  <a:lnTo>
                    <a:pt x="0" y="1080140"/>
                  </a:lnTo>
                  <a:close/>
                </a:path>
              </a:pathLst>
            </a:custGeom>
            <a:solidFill>
              <a:srgbClr val="FDEAFF"/>
            </a:solidFill>
          </p:spPr>
        </p:sp>
        <p:sp>
          <p:nvSpPr>
            <p:cNvPr id="7" name="TextBox 7"/>
            <p:cNvSpPr txBox="1"/>
            <p:nvPr/>
          </p:nvSpPr>
          <p:spPr>
            <a:xfrm>
              <a:off x="0" y="-9525"/>
              <a:ext cx="446305" cy="1089665"/>
            </a:xfrm>
            <a:prstGeom prst="rect">
              <a:avLst/>
            </a:prstGeom>
          </p:spPr>
          <p:txBody>
            <a:bodyPr lIns="50800" tIns="50800" rIns="50800" bIns="50800" rtlCol="0" anchor="ctr"/>
            <a:lstStyle/>
            <a:p>
              <a:pPr algn="ctr">
                <a:lnSpc>
                  <a:spcPts val="2999"/>
                </a:lnSpc>
              </a:pPr>
              <a:endParaRPr/>
            </a:p>
          </p:txBody>
        </p:sp>
      </p:grpSp>
      <p:sp>
        <p:nvSpPr>
          <p:cNvPr id="8" name="TextBox 8"/>
          <p:cNvSpPr txBox="1"/>
          <p:nvPr/>
        </p:nvSpPr>
        <p:spPr>
          <a:xfrm>
            <a:off x="411468" y="552450"/>
            <a:ext cx="9119092" cy="933450"/>
          </a:xfrm>
          <a:prstGeom prst="rect">
            <a:avLst/>
          </a:prstGeom>
        </p:spPr>
        <p:txBody>
          <a:bodyPr lIns="0" tIns="0" rIns="0" bIns="0" rtlCol="0" anchor="t">
            <a:spAutoFit/>
          </a:bodyPr>
          <a:lstStyle/>
          <a:p>
            <a:pPr algn="l">
              <a:lnSpc>
                <a:spcPts val="7200"/>
              </a:lnSpc>
            </a:pPr>
            <a:r>
              <a:rPr lang="en-US" sz="6000" b="1" spc="600">
                <a:solidFill>
                  <a:srgbClr val="249E4E"/>
                </a:solidFill>
                <a:latin typeface="Barlow Ultra-Bold"/>
                <a:ea typeface="Barlow Ultra-Bold"/>
                <a:cs typeface="Barlow Ultra-Bold"/>
                <a:sym typeface="Barlow Ultra-Bold"/>
              </a:rPr>
              <a:t>BACKEND:</a:t>
            </a:r>
          </a:p>
        </p:txBody>
      </p:sp>
      <p:sp>
        <p:nvSpPr>
          <p:cNvPr id="9" name="Freeform 9"/>
          <p:cNvSpPr/>
          <p:nvPr/>
        </p:nvSpPr>
        <p:spPr>
          <a:xfrm>
            <a:off x="-887180" y="5435194"/>
            <a:ext cx="5442121" cy="6667223"/>
          </a:xfrm>
          <a:custGeom>
            <a:avLst/>
            <a:gdLst/>
            <a:ahLst/>
            <a:cxnLst/>
            <a:rect l="l" t="t" r="r" b="b"/>
            <a:pathLst>
              <a:path w="5442121" h="6667223">
                <a:moveTo>
                  <a:pt x="0" y="0"/>
                </a:moveTo>
                <a:lnTo>
                  <a:pt x="5442121" y="0"/>
                </a:lnTo>
                <a:lnTo>
                  <a:pt x="5442121" y="6667224"/>
                </a:lnTo>
                <a:lnTo>
                  <a:pt x="0" y="6667224"/>
                </a:lnTo>
                <a:lnTo>
                  <a:pt x="0" y="0"/>
                </a:lnTo>
                <a:close/>
              </a:path>
            </a:pathLst>
          </a:custGeom>
          <a:blipFill>
            <a:blip r:embed="rId2"/>
            <a:stretch>
              <a:fillRect/>
            </a:stretch>
          </a:blipFill>
        </p:spPr>
      </p:sp>
      <p:sp>
        <p:nvSpPr>
          <p:cNvPr id="10" name="Freeform 10"/>
          <p:cNvSpPr/>
          <p:nvPr/>
        </p:nvSpPr>
        <p:spPr>
          <a:xfrm rot="5400000">
            <a:off x="15770651" y="-309508"/>
            <a:ext cx="3634792" cy="1989223"/>
          </a:xfrm>
          <a:custGeom>
            <a:avLst/>
            <a:gdLst/>
            <a:ahLst/>
            <a:cxnLst/>
            <a:rect l="l" t="t" r="r" b="b"/>
            <a:pathLst>
              <a:path w="3634792" h="1989223">
                <a:moveTo>
                  <a:pt x="0" y="0"/>
                </a:moveTo>
                <a:lnTo>
                  <a:pt x="3634792" y="0"/>
                </a:lnTo>
                <a:lnTo>
                  <a:pt x="3634792" y="1989223"/>
                </a:lnTo>
                <a:lnTo>
                  <a:pt x="0" y="198922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1" name="Freeform 11"/>
          <p:cNvSpPr/>
          <p:nvPr/>
        </p:nvSpPr>
        <p:spPr>
          <a:xfrm rot="5400000">
            <a:off x="15770651" y="6996040"/>
            <a:ext cx="3634792" cy="1989223"/>
          </a:xfrm>
          <a:custGeom>
            <a:avLst/>
            <a:gdLst/>
            <a:ahLst/>
            <a:cxnLst/>
            <a:rect l="l" t="t" r="r" b="b"/>
            <a:pathLst>
              <a:path w="3634792" h="1989223">
                <a:moveTo>
                  <a:pt x="0" y="0"/>
                </a:moveTo>
                <a:lnTo>
                  <a:pt x="3634792" y="0"/>
                </a:lnTo>
                <a:lnTo>
                  <a:pt x="3634792" y="1989222"/>
                </a:lnTo>
                <a:lnTo>
                  <a:pt x="0" y="198922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5258195" y="1953680"/>
            <a:ext cx="9464409" cy="7439025"/>
          </a:xfrm>
          <a:prstGeom prst="rect">
            <a:avLst/>
          </a:prstGeom>
        </p:spPr>
        <p:txBody>
          <a:bodyPr lIns="0" tIns="0" rIns="0" bIns="0" rtlCol="0" anchor="t">
            <a:spAutoFit/>
          </a:bodyPr>
          <a:lstStyle/>
          <a:p>
            <a:pPr marL="514350" indent="-514350" algn="l">
              <a:lnSpc>
                <a:spcPts val="3900"/>
              </a:lnSpc>
              <a:buFont typeface="+mj-lt"/>
              <a:buAutoNum type="arabicPeriod"/>
            </a:pPr>
            <a:r>
              <a:rPr lang="en-US" sz="3250" b="1" dirty="0">
                <a:solidFill>
                  <a:srgbClr val="000000"/>
                </a:solidFill>
                <a:latin typeface="Barlow"/>
                <a:ea typeface="Barlow"/>
                <a:cs typeface="Barlow"/>
                <a:sym typeface="Barlow"/>
              </a:rPr>
              <a:t>Database</a:t>
            </a:r>
          </a:p>
          <a:p>
            <a:pPr marL="808044" lvl="1" indent="-457200" algn="l">
              <a:lnSpc>
                <a:spcPts val="3900"/>
              </a:lnSpc>
              <a:buFont typeface="Arial" panose="020B0604020202020204" pitchFamily="34" charset="0"/>
              <a:buChar char="•"/>
            </a:pPr>
            <a:r>
              <a:rPr lang="en-US" sz="3250" dirty="0">
                <a:solidFill>
                  <a:srgbClr val="000000"/>
                </a:solidFill>
                <a:latin typeface="Barlow"/>
                <a:ea typeface="Barlow"/>
                <a:cs typeface="Barlow"/>
                <a:sym typeface="Barlow"/>
              </a:rPr>
              <a:t>MongoDB for flexible, scalable document and metadata storage</a:t>
            </a:r>
          </a:p>
          <a:p>
            <a:pPr marL="808044" lvl="1" indent="-457200" algn="l">
              <a:lnSpc>
                <a:spcPts val="3900"/>
              </a:lnSpc>
              <a:buFont typeface="Arial" panose="020B0604020202020204" pitchFamily="34" charset="0"/>
              <a:buChar char="•"/>
            </a:pPr>
            <a:r>
              <a:rPr lang="en-US" sz="3250" dirty="0">
                <a:solidFill>
                  <a:srgbClr val="000000"/>
                </a:solidFill>
                <a:latin typeface="Barlow"/>
                <a:ea typeface="Barlow"/>
                <a:cs typeface="Barlow"/>
                <a:sym typeface="Barlow"/>
              </a:rPr>
              <a:t>Mongoose for schema definition and data validation</a:t>
            </a:r>
          </a:p>
          <a:p>
            <a:pPr marL="514350" indent="-514350" algn="l">
              <a:lnSpc>
                <a:spcPts val="3900"/>
              </a:lnSpc>
              <a:buFont typeface="+mj-lt"/>
              <a:buAutoNum type="arabicPeriod"/>
            </a:pPr>
            <a:r>
              <a:rPr lang="en-US" sz="3250" b="1" dirty="0">
                <a:solidFill>
                  <a:srgbClr val="000000"/>
                </a:solidFill>
                <a:latin typeface="Barlow"/>
                <a:ea typeface="Barlow"/>
                <a:cs typeface="Barlow"/>
                <a:sym typeface="Barlow"/>
              </a:rPr>
              <a:t>API Architecture</a:t>
            </a:r>
          </a:p>
          <a:p>
            <a:pPr marL="808044" lvl="1" indent="-457200" algn="l">
              <a:lnSpc>
                <a:spcPts val="3900"/>
              </a:lnSpc>
              <a:buFont typeface="Arial" panose="020B0604020202020204" pitchFamily="34" charset="0"/>
              <a:buChar char="•"/>
            </a:pPr>
            <a:r>
              <a:rPr lang="en-US" sz="3250" dirty="0">
                <a:solidFill>
                  <a:srgbClr val="000000"/>
                </a:solidFill>
                <a:latin typeface="Barlow"/>
                <a:ea typeface="Barlow"/>
                <a:cs typeface="Barlow"/>
                <a:sym typeface="Barlow"/>
              </a:rPr>
              <a:t>RESTful API for client-server communication</a:t>
            </a:r>
          </a:p>
          <a:p>
            <a:pPr marL="808044" lvl="1" indent="-457200" algn="l">
              <a:lnSpc>
                <a:spcPts val="3900"/>
              </a:lnSpc>
              <a:buFont typeface="Arial" panose="020B0604020202020204" pitchFamily="34" charset="0"/>
              <a:buChar char="•"/>
            </a:pPr>
            <a:r>
              <a:rPr lang="en-US" sz="3250" dirty="0">
                <a:solidFill>
                  <a:srgbClr val="000000"/>
                </a:solidFill>
                <a:latin typeface="Barlow"/>
                <a:ea typeface="Barlow"/>
                <a:cs typeface="Barlow"/>
                <a:sym typeface="Barlow"/>
              </a:rPr>
              <a:t>CRUD operations for documents and user management</a:t>
            </a:r>
          </a:p>
          <a:p>
            <a:pPr marL="514350" indent="-514350" algn="l">
              <a:lnSpc>
                <a:spcPts val="3900"/>
              </a:lnSpc>
              <a:buFont typeface="+mj-lt"/>
              <a:buAutoNum type="arabicPeriod"/>
            </a:pPr>
            <a:r>
              <a:rPr lang="en-US" sz="3250" b="1" dirty="0">
                <a:solidFill>
                  <a:srgbClr val="000000"/>
                </a:solidFill>
                <a:latin typeface="Barlow"/>
                <a:ea typeface="Barlow"/>
                <a:cs typeface="Barlow"/>
                <a:sym typeface="Barlow"/>
              </a:rPr>
              <a:t>Authentication &amp; Security</a:t>
            </a:r>
          </a:p>
          <a:p>
            <a:pPr marL="865194" lvl="1" indent="-514350" algn="l">
              <a:lnSpc>
                <a:spcPts val="3900"/>
              </a:lnSpc>
              <a:buFont typeface="Arial" panose="020B0604020202020204" pitchFamily="34" charset="0"/>
              <a:buChar char="•"/>
            </a:pPr>
            <a:r>
              <a:rPr lang="en-US" sz="3250" dirty="0">
                <a:solidFill>
                  <a:srgbClr val="000000"/>
                </a:solidFill>
                <a:latin typeface="Barlow"/>
                <a:ea typeface="Barlow"/>
                <a:cs typeface="Barlow"/>
                <a:sym typeface="Barlow"/>
              </a:rPr>
              <a:t>JWT-based user authentication</a:t>
            </a:r>
          </a:p>
          <a:p>
            <a:pPr marL="865194" lvl="1" indent="-514350" algn="l">
              <a:lnSpc>
                <a:spcPts val="3900"/>
              </a:lnSpc>
              <a:buFont typeface="Arial" panose="020B0604020202020204" pitchFamily="34" charset="0"/>
              <a:buChar char="•"/>
            </a:pPr>
            <a:r>
              <a:rPr lang="en-US" sz="3250" dirty="0">
                <a:solidFill>
                  <a:srgbClr val="000000"/>
                </a:solidFill>
                <a:latin typeface="Barlow"/>
                <a:ea typeface="Barlow"/>
                <a:cs typeface="Barlow"/>
                <a:sym typeface="Barlow"/>
              </a:rPr>
              <a:t>Passwords securely hashed with </a:t>
            </a:r>
            <a:r>
              <a:rPr lang="en-US" sz="3250" dirty="0" err="1">
                <a:solidFill>
                  <a:srgbClr val="000000"/>
                </a:solidFill>
                <a:latin typeface="Barlow"/>
                <a:ea typeface="Barlow"/>
                <a:cs typeface="Barlow"/>
                <a:sym typeface="Barlow"/>
              </a:rPr>
              <a:t>bcrypt</a:t>
            </a:r>
            <a:endParaRPr lang="en-US" sz="3250" dirty="0">
              <a:solidFill>
                <a:srgbClr val="000000"/>
              </a:solidFill>
              <a:latin typeface="Barlow"/>
              <a:ea typeface="Barlow"/>
              <a:cs typeface="Barlow"/>
              <a:sym typeface="Barlow"/>
            </a:endParaRPr>
          </a:p>
          <a:p>
            <a:pPr marL="865194" lvl="1" indent="-514350" algn="l">
              <a:lnSpc>
                <a:spcPts val="3900"/>
              </a:lnSpc>
              <a:buFont typeface="Arial" panose="020B0604020202020204" pitchFamily="34" charset="0"/>
              <a:buChar char="•"/>
            </a:pPr>
            <a:r>
              <a:rPr lang="en-US" sz="3250" dirty="0">
                <a:solidFill>
                  <a:srgbClr val="000000"/>
                </a:solidFill>
                <a:latin typeface="Barlow"/>
                <a:ea typeface="Barlow"/>
                <a:cs typeface="Barlow"/>
                <a:sym typeface="Barlow"/>
              </a:rPr>
              <a:t>Middleware for access control and role-based permissions</a:t>
            </a:r>
          </a:p>
          <a:p>
            <a:pPr algn="l">
              <a:lnSpc>
                <a:spcPts val="3900"/>
              </a:lnSpc>
            </a:pPr>
            <a:endParaRPr lang="en-US" sz="3250" dirty="0">
              <a:solidFill>
                <a:srgbClr val="000000"/>
              </a:solidFill>
              <a:latin typeface="Barlow"/>
              <a:ea typeface="Barlow"/>
              <a:cs typeface="Barlow"/>
              <a:sym typeface="Barlow"/>
            </a:endParaRPr>
          </a:p>
        </p:txBody>
      </p:sp>
      <p:sp>
        <p:nvSpPr>
          <p:cNvPr id="13" name="Freeform 13"/>
          <p:cNvSpPr/>
          <p:nvPr/>
        </p:nvSpPr>
        <p:spPr>
          <a:xfrm>
            <a:off x="16655555" y="329895"/>
            <a:ext cx="1570325" cy="1990167"/>
          </a:xfrm>
          <a:custGeom>
            <a:avLst/>
            <a:gdLst/>
            <a:ahLst/>
            <a:cxnLst/>
            <a:rect l="l" t="t" r="r" b="b"/>
            <a:pathLst>
              <a:path w="1570325" h="1990167">
                <a:moveTo>
                  <a:pt x="0" y="0"/>
                </a:moveTo>
                <a:lnTo>
                  <a:pt x="1570326" y="0"/>
                </a:lnTo>
                <a:lnTo>
                  <a:pt x="1570326" y="1990167"/>
                </a:lnTo>
                <a:lnTo>
                  <a:pt x="0" y="199016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EAFF"/>
        </a:solidFill>
        <a:effectLst/>
      </p:bgPr>
    </p:bg>
    <p:spTree>
      <p:nvGrpSpPr>
        <p:cNvPr id="1" name=""/>
        <p:cNvGrpSpPr/>
        <p:nvPr/>
      </p:nvGrpSpPr>
      <p:grpSpPr>
        <a:xfrm>
          <a:off x="0" y="0"/>
          <a:ext cx="0" cy="0"/>
          <a:chOff x="0" y="0"/>
          <a:chExt cx="0" cy="0"/>
        </a:xfrm>
      </p:grpSpPr>
      <p:grpSp>
        <p:nvGrpSpPr>
          <p:cNvPr id="2" name="Group 2"/>
          <p:cNvGrpSpPr/>
          <p:nvPr/>
        </p:nvGrpSpPr>
        <p:grpSpPr>
          <a:xfrm>
            <a:off x="-3200400" y="-155540"/>
            <a:ext cx="4229100" cy="6354269"/>
            <a:chOff x="0" y="0"/>
            <a:chExt cx="1113837" cy="1673552"/>
          </a:xfrm>
        </p:grpSpPr>
        <p:sp>
          <p:nvSpPr>
            <p:cNvPr id="3" name="Freeform 3"/>
            <p:cNvSpPr/>
            <p:nvPr/>
          </p:nvSpPr>
          <p:spPr>
            <a:xfrm>
              <a:off x="0" y="0"/>
              <a:ext cx="1113837" cy="1673552"/>
            </a:xfrm>
            <a:custGeom>
              <a:avLst/>
              <a:gdLst/>
              <a:ahLst/>
              <a:cxnLst/>
              <a:rect l="l" t="t" r="r" b="b"/>
              <a:pathLst>
                <a:path w="1113837" h="1673552">
                  <a:moveTo>
                    <a:pt x="0" y="0"/>
                  </a:moveTo>
                  <a:lnTo>
                    <a:pt x="1113837" y="0"/>
                  </a:lnTo>
                  <a:lnTo>
                    <a:pt x="1113837" y="1673552"/>
                  </a:lnTo>
                  <a:lnTo>
                    <a:pt x="0" y="1673552"/>
                  </a:lnTo>
                  <a:close/>
                </a:path>
              </a:pathLst>
            </a:custGeom>
            <a:solidFill>
              <a:srgbClr val="FFFDF2"/>
            </a:solidFill>
          </p:spPr>
        </p:sp>
        <p:sp>
          <p:nvSpPr>
            <p:cNvPr id="4" name="TextBox 4"/>
            <p:cNvSpPr txBox="1"/>
            <p:nvPr/>
          </p:nvSpPr>
          <p:spPr>
            <a:xfrm>
              <a:off x="0" y="-9525"/>
              <a:ext cx="1113837" cy="1683077"/>
            </a:xfrm>
            <a:prstGeom prst="rect">
              <a:avLst/>
            </a:prstGeom>
          </p:spPr>
          <p:txBody>
            <a:bodyPr lIns="50800" tIns="50800" rIns="50800" bIns="50800" rtlCol="0" anchor="ctr"/>
            <a:lstStyle/>
            <a:p>
              <a:pPr algn="ctr">
                <a:lnSpc>
                  <a:spcPts val="2999"/>
                </a:lnSpc>
              </a:pPr>
              <a:endParaRPr/>
            </a:p>
          </p:txBody>
        </p:sp>
      </p:grpSp>
      <p:grpSp>
        <p:nvGrpSpPr>
          <p:cNvPr id="5" name="Group 5"/>
          <p:cNvGrpSpPr/>
          <p:nvPr/>
        </p:nvGrpSpPr>
        <p:grpSpPr>
          <a:xfrm>
            <a:off x="14058900" y="8959467"/>
            <a:ext cx="4229100" cy="1327533"/>
            <a:chOff x="0" y="0"/>
            <a:chExt cx="1113837" cy="349638"/>
          </a:xfrm>
        </p:grpSpPr>
        <p:sp>
          <p:nvSpPr>
            <p:cNvPr id="6" name="Freeform 6"/>
            <p:cNvSpPr/>
            <p:nvPr/>
          </p:nvSpPr>
          <p:spPr>
            <a:xfrm>
              <a:off x="0" y="0"/>
              <a:ext cx="1113837" cy="349638"/>
            </a:xfrm>
            <a:custGeom>
              <a:avLst/>
              <a:gdLst/>
              <a:ahLst/>
              <a:cxnLst/>
              <a:rect l="l" t="t" r="r" b="b"/>
              <a:pathLst>
                <a:path w="1113837" h="349638">
                  <a:moveTo>
                    <a:pt x="0" y="0"/>
                  </a:moveTo>
                  <a:lnTo>
                    <a:pt x="1113837" y="0"/>
                  </a:lnTo>
                  <a:lnTo>
                    <a:pt x="1113837" y="349638"/>
                  </a:lnTo>
                  <a:lnTo>
                    <a:pt x="0" y="349638"/>
                  </a:lnTo>
                  <a:close/>
                </a:path>
              </a:pathLst>
            </a:custGeom>
            <a:solidFill>
              <a:srgbClr val="FFFDF2"/>
            </a:solidFill>
          </p:spPr>
        </p:sp>
        <p:sp>
          <p:nvSpPr>
            <p:cNvPr id="7" name="TextBox 7"/>
            <p:cNvSpPr txBox="1"/>
            <p:nvPr/>
          </p:nvSpPr>
          <p:spPr>
            <a:xfrm>
              <a:off x="0" y="-9525"/>
              <a:ext cx="1113837" cy="359163"/>
            </a:xfrm>
            <a:prstGeom prst="rect">
              <a:avLst/>
            </a:prstGeom>
          </p:spPr>
          <p:txBody>
            <a:bodyPr lIns="50800" tIns="50800" rIns="50800" bIns="50800" rtlCol="0" anchor="ctr"/>
            <a:lstStyle/>
            <a:p>
              <a:pPr algn="ctr">
                <a:lnSpc>
                  <a:spcPts val="2999"/>
                </a:lnSpc>
              </a:pPr>
              <a:endParaRPr/>
            </a:p>
          </p:txBody>
        </p:sp>
      </p:grpSp>
      <p:sp>
        <p:nvSpPr>
          <p:cNvPr id="8" name="Freeform 8"/>
          <p:cNvSpPr/>
          <p:nvPr/>
        </p:nvSpPr>
        <p:spPr>
          <a:xfrm>
            <a:off x="16173450" y="-20574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057400" y="82296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4243491" y="3128792"/>
            <a:ext cx="3812334" cy="3327128"/>
          </a:xfrm>
          <a:custGeom>
            <a:avLst/>
            <a:gdLst/>
            <a:ahLst/>
            <a:cxnLst/>
            <a:rect l="l" t="t" r="r" b="b"/>
            <a:pathLst>
              <a:path w="3812334" h="3327128">
                <a:moveTo>
                  <a:pt x="0" y="0"/>
                </a:moveTo>
                <a:lnTo>
                  <a:pt x="3812334" y="0"/>
                </a:lnTo>
                <a:lnTo>
                  <a:pt x="3812334" y="3327128"/>
                </a:lnTo>
                <a:lnTo>
                  <a:pt x="0" y="332712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0187489" y="1216730"/>
            <a:ext cx="495450" cy="671177"/>
          </a:xfrm>
          <a:custGeom>
            <a:avLst/>
            <a:gdLst/>
            <a:ahLst/>
            <a:cxnLst/>
            <a:rect l="l" t="t" r="r" b="b"/>
            <a:pathLst>
              <a:path w="495450" h="671177">
                <a:moveTo>
                  <a:pt x="0" y="0"/>
                </a:moveTo>
                <a:lnTo>
                  <a:pt x="495451" y="0"/>
                </a:lnTo>
                <a:lnTo>
                  <a:pt x="495451" y="671177"/>
                </a:lnTo>
                <a:lnTo>
                  <a:pt x="0" y="6711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710809" y="1076068"/>
            <a:ext cx="9292518" cy="933450"/>
          </a:xfrm>
          <a:prstGeom prst="rect">
            <a:avLst/>
          </a:prstGeom>
        </p:spPr>
        <p:txBody>
          <a:bodyPr lIns="0" tIns="0" rIns="0" bIns="0" rtlCol="0" anchor="t">
            <a:spAutoFit/>
          </a:bodyPr>
          <a:lstStyle/>
          <a:p>
            <a:pPr algn="l">
              <a:lnSpc>
                <a:spcPts val="7200"/>
              </a:lnSpc>
            </a:pPr>
            <a:r>
              <a:rPr lang="en-US" sz="6000" b="1" spc="600">
                <a:solidFill>
                  <a:srgbClr val="8363B8"/>
                </a:solidFill>
                <a:latin typeface="Barlow Ultra-Bold"/>
                <a:ea typeface="Barlow Ultra-Bold"/>
                <a:cs typeface="Barlow Ultra-Bold"/>
                <a:sym typeface="Barlow Ultra-Bold"/>
              </a:rPr>
              <a:t>JWT AUTHENTICATION</a:t>
            </a:r>
          </a:p>
        </p:txBody>
      </p:sp>
      <p:sp>
        <p:nvSpPr>
          <p:cNvPr id="13" name="TextBox 13"/>
          <p:cNvSpPr txBox="1"/>
          <p:nvPr/>
        </p:nvSpPr>
        <p:spPr>
          <a:xfrm>
            <a:off x="2149695" y="2436811"/>
            <a:ext cx="12001500" cy="7565381"/>
          </a:xfrm>
          <a:prstGeom prst="rect">
            <a:avLst/>
          </a:prstGeom>
        </p:spPr>
        <p:txBody>
          <a:bodyPr lIns="0" tIns="0" rIns="0" bIns="0" rtlCol="0" anchor="t">
            <a:spAutoFit/>
          </a:bodyPr>
          <a:lstStyle/>
          <a:p>
            <a:pPr marL="850949" lvl="1" indent="-514350" algn="l">
              <a:lnSpc>
                <a:spcPts val="3741"/>
              </a:lnSpc>
              <a:buFont typeface="+mj-lt"/>
              <a:buAutoNum type="arabicPeriod"/>
            </a:pPr>
            <a:r>
              <a:rPr lang="en-US" sz="3118" b="1" dirty="0">
                <a:solidFill>
                  <a:srgbClr val="000000"/>
                </a:solidFill>
                <a:latin typeface="Barlow"/>
                <a:ea typeface="Barlow"/>
                <a:cs typeface="Barlow"/>
                <a:sym typeface="Barlow"/>
              </a:rPr>
              <a:t>User Logs In</a:t>
            </a:r>
          </a:p>
          <a:p>
            <a:pPr marL="336599" lvl="1" algn="just">
              <a:lnSpc>
                <a:spcPts val="3741"/>
              </a:lnSpc>
              <a:spcBef>
                <a:spcPct val="0"/>
              </a:spcBef>
            </a:pPr>
            <a:r>
              <a:rPr lang="en-US" sz="3118" dirty="0">
                <a:solidFill>
                  <a:srgbClr val="000000"/>
                </a:solidFill>
                <a:latin typeface="Barlow"/>
                <a:ea typeface="Barlow"/>
                <a:cs typeface="Barlow"/>
                <a:sym typeface="Barlow"/>
              </a:rPr>
              <a:t>   	The user submits credentials (like username and password) to the server.</a:t>
            </a:r>
          </a:p>
          <a:p>
            <a:pPr marL="336599" lvl="1" algn="l">
              <a:lnSpc>
                <a:spcPts val="3741"/>
              </a:lnSpc>
              <a:spcBef>
                <a:spcPct val="0"/>
              </a:spcBef>
            </a:pPr>
            <a:r>
              <a:rPr lang="en-US" sz="3118" b="1" dirty="0">
                <a:solidFill>
                  <a:srgbClr val="000000"/>
                </a:solidFill>
                <a:latin typeface="Barlow"/>
                <a:ea typeface="Barlow"/>
                <a:cs typeface="Barlow"/>
                <a:sym typeface="Barlow"/>
              </a:rPr>
              <a:t>2.Token Issued</a:t>
            </a:r>
          </a:p>
          <a:p>
            <a:pPr marL="336599" lvl="1" algn="just">
              <a:lnSpc>
                <a:spcPts val="3741"/>
              </a:lnSpc>
              <a:spcBef>
                <a:spcPct val="0"/>
              </a:spcBef>
            </a:pPr>
            <a:r>
              <a:rPr lang="en-US" sz="3118" dirty="0">
                <a:solidFill>
                  <a:srgbClr val="000000"/>
                </a:solidFill>
                <a:latin typeface="Barlow"/>
                <a:ea typeface="Barlow"/>
                <a:cs typeface="Barlow"/>
                <a:sym typeface="Barlow"/>
              </a:rPr>
              <a:t>   	 If valid, the server generates a JWT signed with a secret key and returns it to the client.</a:t>
            </a:r>
          </a:p>
          <a:p>
            <a:pPr marL="336599" lvl="1" algn="l">
              <a:lnSpc>
                <a:spcPts val="3741"/>
              </a:lnSpc>
              <a:spcBef>
                <a:spcPct val="0"/>
              </a:spcBef>
            </a:pPr>
            <a:r>
              <a:rPr lang="en-US" sz="3118" b="1" dirty="0">
                <a:solidFill>
                  <a:srgbClr val="000000"/>
                </a:solidFill>
                <a:latin typeface="Barlow"/>
                <a:ea typeface="Barlow"/>
                <a:cs typeface="Barlow"/>
                <a:sym typeface="Barlow"/>
              </a:rPr>
              <a:t>3.Token Stored Client-Side</a:t>
            </a:r>
          </a:p>
          <a:p>
            <a:pPr marL="336599" lvl="1" algn="just">
              <a:lnSpc>
                <a:spcPts val="3741"/>
              </a:lnSpc>
              <a:spcBef>
                <a:spcPct val="0"/>
              </a:spcBef>
            </a:pPr>
            <a:r>
              <a:rPr lang="en-US" sz="3118" dirty="0">
                <a:solidFill>
                  <a:srgbClr val="000000"/>
                </a:solidFill>
                <a:latin typeface="Barlow"/>
                <a:ea typeface="Barlow"/>
                <a:cs typeface="Barlow"/>
                <a:sym typeface="Barlow"/>
              </a:rPr>
              <a:t> 	The client stores the token (typically in </a:t>
            </a:r>
            <a:r>
              <a:rPr lang="en-US" sz="3118" dirty="0" err="1">
                <a:solidFill>
                  <a:srgbClr val="000000"/>
                </a:solidFill>
                <a:latin typeface="Barlow"/>
                <a:ea typeface="Barlow"/>
                <a:cs typeface="Barlow"/>
                <a:sym typeface="Barlow"/>
              </a:rPr>
              <a:t>localStorage</a:t>
            </a:r>
            <a:r>
              <a:rPr lang="en-US" sz="3118" dirty="0">
                <a:solidFill>
                  <a:srgbClr val="000000"/>
                </a:solidFill>
                <a:latin typeface="Barlow"/>
                <a:ea typeface="Barlow"/>
                <a:cs typeface="Barlow"/>
                <a:sym typeface="Barlow"/>
              </a:rPr>
              <a:t> or </a:t>
            </a:r>
            <a:r>
              <a:rPr lang="en-US" sz="3118" dirty="0" err="1">
                <a:solidFill>
                  <a:srgbClr val="000000"/>
                </a:solidFill>
                <a:latin typeface="Barlow"/>
                <a:ea typeface="Barlow"/>
                <a:cs typeface="Barlow"/>
                <a:sym typeface="Barlow"/>
              </a:rPr>
              <a:t>sessionStorage</a:t>
            </a:r>
            <a:r>
              <a:rPr lang="en-US" sz="3118" dirty="0">
                <a:solidFill>
                  <a:srgbClr val="000000"/>
                </a:solidFill>
                <a:latin typeface="Barlow"/>
                <a:ea typeface="Barlow"/>
                <a:cs typeface="Barlow"/>
                <a:sym typeface="Barlow"/>
              </a:rPr>
              <a:t>).</a:t>
            </a:r>
          </a:p>
          <a:p>
            <a:pPr marL="336599" lvl="1" algn="l">
              <a:lnSpc>
                <a:spcPts val="3741"/>
              </a:lnSpc>
              <a:spcBef>
                <a:spcPct val="0"/>
              </a:spcBef>
            </a:pPr>
            <a:r>
              <a:rPr lang="en-US" sz="3118" b="1" dirty="0">
                <a:solidFill>
                  <a:srgbClr val="000000"/>
                </a:solidFill>
                <a:latin typeface="Barlow"/>
                <a:ea typeface="Barlow"/>
                <a:cs typeface="Barlow"/>
                <a:sym typeface="Barlow"/>
              </a:rPr>
              <a:t>4.Authenticated Requests</a:t>
            </a:r>
          </a:p>
          <a:p>
            <a:pPr marL="336599" lvl="1" algn="just">
              <a:lnSpc>
                <a:spcPts val="3741"/>
              </a:lnSpc>
              <a:spcBef>
                <a:spcPct val="0"/>
              </a:spcBef>
            </a:pPr>
            <a:r>
              <a:rPr lang="en-US" sz="3118" dirty="0">
                <a:solidFill>
                  <a:srgbClr val="000000"/>
                </a:solidFill>
                <a:latin typeface="Barlow"/>
                <a:ea typeface="Barlow"/>
                <a:cs typeface="Barlow"/>
                <a:sym typeface="Barlow"/>
              </a:rPr>
              <a:t> 	For each request to a protected route, the client sends the JWT in the request headers (usually as Authorization: Bearer &lt;token&gt;).</a:t>
            </a:r>
          </a:p>
          <a:p>
            <a:pPr marL="336599" lvl="1" algn="l">
              <a:lnSpc>
                <a:spcPts val="3741"/>
              </a:lnSpc>
              <a:spcBef>
                <a:spcPct val="0"/>
              </a:spcBef>
            </a:pPr>
            <a:r>
              <a:rPr lang="en-US" sz="3118" b="1" dirty="0">
                <a:solidFill>
                  <a:srgbClr val="000000"/>
                </a:solidFill>
                <a:latin typeface="Barlow"/>
                <a:ea typeface="Barlow"/>
                <a:cs typeface="Barlow"/>
                <a:sym typeface="Barlow"/>
              </a:rPr>
              <a:t>5.Token Verified</a:t>
            </a:r>
          </a:p>
          <a:p>
            <a:pPr marL="336599" lvl="1" algn="just">
              <a:lnSpc>
                <a:spcPts val="3741"/>
              </a:lnSpc>
              <a:spcBef>
                <a:spcPct val="0"/>
              </a:spcBef>
            </a:pPr>
            <a:r>
              <a:rPr lang="en-US" sz="3118" dirty="0">
                <a:solidFill>
                  <a:srgbClr val="000000"/>
                </a:solidFill>
                <a:latin typeface="Barlow"/>
                <a:ea typeface="Barlow"/>
                <a:cs typeface="Barlow"/>
                <a:sym typeface="Barlow"/>
              </a:rPr>
              <a:t> 	The server validates the token’s signature and payload. If valid, it allows access.</a:t>
            </a:r>
          </a:p>
          <a:p>
            <a:pPr algn="l">
              <a:lnSpc>
                <a:spcPts val="3741"/>
              </a:lnSpc>
              <a:spcBef>
                <a:spcPct val="0"/>
              </a:spcBef>
            </a:pPr>
            <a:endParaRPr lang="en-US" sz="3118" dirty="0">
              <a:solidFill>
                <a:srgbClr val="000000"/>
              </a:solidFill>
              <a:latin typeface="Barlow"/>
              <a:ea typeface="Barlow"/>
              <a:cs typeface="Barlow"/>
              <a:sym typeface="Barlo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EAFF"/>
        </a:solidFill>
        <a:effectLst/>
      </p:bgPr>
    </p:bg>
    <p:spTree>
      <p:nvGrpSpPr>
        <p:cNvPr id="1" name=""/>
        <p:cNvGrpSpPr/>
        <p:nvPr/>
      </p:nvGrpSpPr>
      <p:grpSpPr>
        <a:xfrm>
          <a:off x="0" y="0"/>
          <a:ext cx="0" cy="0"/>
          <a:chOff x="0" y="0"/>
          <a:chExt cx="0" cy="0"/>
        </a:xfrm>
      </p:grpSpPr>
      <p:grpSp>
        <p:nvGrpSpPr>
          <p:cNvPr id="2" name="Group 2"/>
          <p:cNvGrpSpPr/>
          <p:nvPr/>
        </p:nvGrpSpPr>
        <p:grpSpPr>
          <a:xfrm>
            <a:off x="-3200400" y="-155540"/>
            <a:ext cx="4229100" cy="6354269"/>
            <a:chOff x="0" y="0"/>
            <a:chExt cx="1113837" cy="1673552"/>
          </a:xfrm>
        </p:grpSpPr>
        <p:sp>
          <p:nvSpPr>
            <p:cNvPr id="3" name="Freeform 3"/>
            <p:cNvSpPr/>
            <p:nvPr/>
          </p:nvSpPr>
          <p:spPr>
            <a:xfrm>
              <a:off x="0" y="0"/>
              <a:ext cx="1113837" cy="1673552"/>
            </a:xfrm>
            <a:custGeom>
              <a:avLst/>
              <a:gdLst/>
              <a:ahLst/>
              <a:cxnLst/>
              <a:rect l="l" t="t" r="r" b="b"/>
              <a:pathLst>
                <a:path w="1113837" h="1673552">
                  <a:moveTo>
                    <a:pt x="0" y="0"/>
                  </a:moveTo>
                  <a:lnTo>
                    <a:pt x="1113837" y="0"/>
                  </a:lnTo>
                  <a:lnTo>
                    <a:pt x="1113837" y="1673552"/>
                  </a:lnTo>
                  <a:lnTo>
                    <a:pt x="0" y="1673552"/>
                  </a:lnTo>
                  <a:close/>
                </a:path>
              </a:pathLst>
            </a:custGeom>
            <a:solidFill>
              <a:srgbClr val="FFFDF2"/>
            </a:solidFill>
          </p:spPr>
        </p:sp>
        <p:sp>
          <p:nvSpPr>
            <p:cNvPr id="4" name="TextBox 4"/>
            <p:cNvSpPr txBox="1"/>
            <p:nvPr/>
          </p:nvSpPr>
          <p:spPr>
            <a:xfrm>
              <a:off x="0" y="-9525"/>
              <a:ext cx="1113837" cy="1683077"/>
            </a:xfrm>
            <a:prstGeom prst="rect">
              <a:avLst/>
            </a:prstGeom>
          </p:spPr>
          <p:txBody>
            <a:bodyPr lIns="50800" tIns="50800" rIns="50800" bIns="50800" rtlCol="0" anchor="ctr"/>
            <a:lstStyle/>
            <a:p>
              <a:pPr algn="ctr">
                <a:lnSpc>
                  <a:spcPts val="2999"/>
                </a:lnSpc>
              </a:pPr>
              <a:endParaRPr/>
            </a:p>
          </p:txBody>
        </p:sp>
      </p:grpSp>
      <p:grpSp>
        <p:nvGrpSpPr>
          <p:cNvPr id="5" name="Group 5"/>
          <p:cNvGrpSpPr/>
          <p:nvPr/>
        </p:nvGrpSpPr>
        <p:grpSpPr>
          <a:xfrm>
            <a:off x="14177734" y="8049062"/>
            <a:ext cx="4229100" cy="2239450"/>
            <a:chOff x="0" y="0"/>
            <a:chExt cx="1113837" cy="589814"/>
          </a:xfrm>
        </p:grpSpPr>
        <p:sp>
          <p:nvSpPr>
            <p:cNvPr id="6" name="Freeform 6"/>
            <p:cNvSpPr/>
            <p:nvPr/>
          </p:nvSpPr>
          <p:spPr>
            <a:xfrm>
              <a:off x="0" y="0"/>
              <a:ext cx="1113837" cy="589814"/>
            </a:xfrm>
            <a:custGeom>
              <a:avLst/>
              <a:gdLst/>
              <a:ahLst/>
              <a:cxnLst/>
              <a:rect l="l" t="t" r="r" b="b"/>
              <a:pathLst>
                <a:path w="1113837" h="589814">
                  <a:moveTo>
                    <a:pt x="0" y="0"/>
                  </a:moveTo>
                  <a:lnTo>
                    <a:pt x="1113837" y="0"/>
                  </a:lnTo>
                  <a:lnTo>
                    <a:pt x="1113837" y="589814"/>
                  </a:lnTo>
                  <a:lnTo>
                    <a:pt x="0" y="589814"/>
                  </a:lnTo>
                  <a:close/>
                </a:path>
              </a:pathLst>
            </a:custGeom>
            <a:solidFill>
              <a:srgbClr val="FFFDF2"/>
            </a:solidFill>
          </p:spPr>
        </p:sp>
        <p:sp>
          <p:nvSpPr>
            <p:cNvPr id="7" name="TextBox 7"/>
            <p:cNvSpPr txBox="1"/>
            <p:nvPr/>
          </p:nvSpPr>
          <p:spPr>
            <a:xfrm>
              <a:off x="0" y="-9525"/>
              <a:ext cx="1113837" cy="599339"/>
            </a:xfrm>
            <a:prstGeom prst="rect">
              <a:avLst/>
            </a:prstGeom>
          </p:spPr>
          <p:txBody>
            <a:bodyPr lIns="50800" tIns="50800" rIns="50800" bIns="50800" rtlCol="0" anchor="ctr"/>
            <a:lstStyle/>
            <a:p>
              <a:pPr algn="ctr">
                <a:lnSpc>
                  <a:spcPts val="2999"/>
                </a:lnSpc>
              </a:pPr>
              <a:endParaRPr/>
            </a:p>
          </p:txBody>
        </p:sp>
      </p:grpSp>
      <p:sp>
        <p:nvSpPr>
          <p:cNvPr id="8" name="Freeform 8"/>
          <p:cNvSpPr/>
          <p:nvPr/>
        </p:nvSpPr>
        <p:spPr>
          <a:xfrm>
            <a:off x="16349434" y="-177867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2057400" y="82296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TextBox 10"/>
          <p:cNvSpPr txBox="1"/>
          <p:nvPr/>
        </p:nvSpPr>
        <p:spPr>
          <a:xfrm>
            <a:off x="2057400" y="3012069"/>
            <a:ext cx="11525494" cy="5745163"/>
          </a:xfrm>
          <a:prstGeom prst="rect">
            <a:avLst/>
          </a:prstGeom>
        </p:spPr>
        <p:txBody>
          <a:bodyPr lIns="0" tIns="0" rIns="0" bIns="0" rtlCol="0" anchor="t">
            <a:spAutoFit/>
          </a:bodyPr>
          <a:lstStyle/>
          <a:p>
            <a:pPr marL="802465" lvl="1" indent="-514350" algn="l">
              <a:lnSpc>
                <a:spcPts val="3202"/>
              </a:lnSpc>
              <a:buFont typeface="+mj-lt"/>
              <a:buAutoNum type="arabicPeriod"/>
            </a:pPr>
            <a:r>
              <a:rPr lang="en-US" sz="2668" b="1" dirty="0">
                <a:solidFill>
                  <a:srgbClr val="000000"/>
                </a:solidFill>
                <a:latin typeface="Barlow"/>
                <a:ea typeface="Barlow"/>
                <a:cs typeface="Barlow"/>
                <a:sym typeface="Barlow"/>
              </a:rPr>
              <a:t>Flexible Document Storage:</a:t>
            </a:r>
          </a:p>
          <a:p>
            <a:pPr marL="288115" lvl="1" algn="l">
              <a:lnSpc>
                <a:spcPts val="3202"/>
              </a:lnSpc>
              <a:spcBef>
                <a:spcPct val="0"/>
              </a:spcBef>
            </a:pPr>
            <a:r>
              <a:rPr lang="en-US" sz="2668" dirty="0">
                <a:solidFill>
                  <a:srgbClr val="000000"/>
                </a:solidFill>
                <a:latin typeface="Barlow"/>
                <a:ea typeface="Barlow"/>
                <a:cs typeface="Barlow"/>
                <a:sym typeface="Barlow"/>
              </a:rPr>
              <a:t> MongoDB stores data in BSON (Binary JSON) format, which is ideal for storing documents with varying structures such as PDFs, Word files, scanned images, and metadata. This flexibility is perfect for managing different types of documents without needing a rigid schema.</a:t>
            </a:r>
          </a:p>
          <a:p>
            <a:pPr marL="288115" lvl="1" algn="l">
              <a:lnSpc>
                <a:spcPts val="3202"/>
              </a:lnSpc>
              <a:spcBef>
                <a:spcPct val="0"/>
              </a:spcBef>
            </a:pPr>
            <a:r>
              <a:rPr lang="en-US" sz="2668" b="1" dirty="0">
                <a:solidFill>
                  <a:srgbClr val="000000"/>
                </a:solidFill>
                <a:latin typeface="Barlow"/>
                <a:ea typeface="Barlow"/>
                <a:cs typeface="Barlow"/>
                <a:sym typeface="Barlow"/>
              </a:rPr>
              <a:t>2. Schema-less Design:</a:t>
            </a:r>
          </a:p>
          <a:p>
            <a:pPr marL="288115" lvl="1" algn="l">
              <a:lnSpc>
                <a:spcPts val="3202"/>
              </a:lnSpc>
              <a:spcBef>
                <a:spcPct val="0"/>
              </a:spcBef>
            </a:pPr>
            <a:r>
              <a:rPr lang="en-US" sz="2668" dirty="0">
                <a:solidFill>
                  <a:srgbClr val="000000"/>
                </a:solidFill>
                <a:latin typeface="Barlow"/>
                <a:ea typeface="Barlow"/>
                <a:cs typeface="Barlow"/>
                <a:sym typeface="Barlow"/>
              </a:rPr>
              <a:t> In a DMS, documents can have different sets of metadata. MongoDB’s schema-less nature allows each document to store its own unique fields, making it easier to accommodate diverse document types without database redesign.</a:t>
            </a:r>
          </a:p>
          <a:p>
            <a:pPr marL="288115" lvl="1" algn="l">
              <a:lnSpc>
                <a:spcPts val="3202"/>
              </a:lnSpc>
              <a:spcBef>
                <a:spcPct val="0"/>
              </a:spcBef>
            </a:pPr>
            <a:r>
              <a:rPr lang="en-US" sz="2668" b="1" dirty="0">
                <a:solidFill>
                  <a:srgbClr val="000000"/>
                </a:solidFill>
                <a:latin typeface="Barlow"/>
                <a:ea typeface="Barlow"/>
                <a:cs typeface="Barlow"/>
                <a:sym typeface="Barlow"/>
              </a:rPr>
              <a:t>3. High Performance:</a:t>
            </a:r>
          </a:p>
          <a:p>
            <a:pPr marL="288115" lvl="1" algn="l">
              <a:lnSpc>
                <a:spcPts val="3202"/>
              </a:lnSpc>
              <a:spcBef>
                <a:spcPct val="0"/>
              </a:spcBef>
            </a:pPr>
            <a:r>
              <a:rPr lang="en-US" sz="2668" dirty="0">
                <a:solidFill>
                  <a:srgbClr val="000000"/>
                </a:solidFill>
                <a:latin typeface="Barlow"/>
                <a:ea typeface="Barlow"/>
                <a:cs typeface="Barlow"/>
                <a:sym typeface="Barlow"/>
              </a:rPr>
              <a:t> MongoDB offers fast read and write operations, which is essential for real-time uploading, retrieving, and searching documents in a DMS.</a:t>
            </a:r>
          </a:p>
          <a:p>
            <a:pPr algn="l">
              <a:lnSpc>
                <a:spcPts val="3202"/>
              </a:lnSpc>
              <a:spcBef>
                <a:spcPct val="0"/>
              </a:spcBef>
            </a:pPr>
            <a:endParaRPr lang="en-US" sz="2668" dirty="0">
              <a:solidFill>
                <a:srgbClr val="000000"/>
              </a:solidFill>
              <a:latin typeface="Barlow"/>
              <a:ea typeface="Barlow"/>
              <a:cs typeface="Barlow"/>
              <a:sym typeface="Barlow"/>
            </a:endParaRPr>
          </a:p>
        </p:txBody>
      </p:sp>
      <p:sp>
        <p:nvSpPr>
          <p:cNvPr id="11" name="Freeform 11"/>
          <p:cNvSpPr/>
          <p:nvPr/>
        </p:nvSpPr>
        <p:spPr>
          <a:xfrm rot="1009878">
            <a:off x="2594902" y="325921"/>
            <a:ext cx="476195" cy="1015145"/>
          </a:xfrm>
          <a:custGeom>
            <a:avLst/>
            <a:gdLst/>
            <a:ahLst/>
            <a:cxnLst/>
            <a:rect l="l" t="t" r="r" b="b"/>
            <a:pathLst>
              <a:path w="476195" h="1015145">
                <a:moveTo>
                  <a:pt x="0" y="0"/>
                </a:moveTo>
                <a:lnTo>
                  <a:pt x="476195" y="0"/>
                </a:lnTo>
                <a:lnTo>
                  <a:pt x="476195" y="1015144"/>
                </a:lnTo>
                <a:lnTo>
                  <a:pt x="0" y="10151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710809" y="1076068"/>
            <a:ext cx="9292518" cy="933450"/>
          </a:xfrm>
          <a:prstGeom prst="rect">
            <a:avLst/>
          </a:prstGeom>
        </p:spPr>
        <p:txBody>
          <a:bodyPr lIns="0" tIns="0" rIns="0" bIns="0" rtlCol="0" anchor="t">
            <a:spAutoFit/>
          </a:bodyPr>
          <a:lstStyle/>
          <a:p>
            <a:pPr algn="l">
              <a:lnSpc>
                <a:spcPts val="7200"/>
              </a:lnSpc>
            </a:pPr>
            <a:r>
              <a:rPr lang="en-US" sz="6000" b="1" spc="600">
                <a:solidFill>
                  <a:srgbClr val="8363B8"/>
                </a:solidFill>
                <a:latin typeface="Barlow Ultra-Bold"/>
                <a:ea typeface="Barlow Ultra-Bold"/>
                <a:cs typeface="Barlow Ultra-Bold"/>
                <a:sym typeface="Barlow Ultra-Bold"/>
              </a:rPr>
              <a:t>MONGODB: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EAFF"/>
        </a:solidFill>
        <a:effectLst/>
      </p:bgPr>
    </p:bg>
    <p:spTree>
      <p:nvGrpSpPr>
        <p:cNvPr id="1" name=""/>
        <p:cNvGrpSpPr/>
        <p:nvPr/>
      </p:nvGrpSpPr>
      <p:grpSpPr>
        <a:xfrm>
          <a:off x="0" y="0"/>
          <a:ext cx="0" cy="0"/>
          <a:chOff x="0" y="0"/>
          <a:chExt cx="0" cy="0"/>
        </a:xfrm>
      </p:grpSpPr>
      <p:grpSp>
        <p:nvGrpSpPr>
          <p:cNvPr id="2" name="Group 2"/>
          <p:cNvGrpSpPr/>
          <p:nvPr/>
        </p:nvGrpSpPr>
        <p:grpSpPr>
          <a:xfrm>
            <a:off x="12785651" y="5143500"/>
            <a:ext cx="3709550" cy="5143500"/>
            <a:chOff x="0" y="0"/>
            <a:chExt cx="977001" cy="1354667"/>
          </a:xfrm>
        </p:grpSpPr>
        <p:sp>
          <p:nvSpPr>
            <p:cNvPr id="3" name="Freeform 3"/>
            <p:cNvSpPr/>
            <p:nvPr/>
          </p:nvSpPr>
          <p:spPr>
            <a:xfrm>
              <a:off x="0" y="0"/>
              <a:ext cx="977001" cy="1354667"/>
            </a:xfrm>
            <a:custGeom>
              <a:avLst/>
              <a:gdLst/>
              <a:ahLst/>
              <a:cxnLst/>
              <a:rect l="l" t="t" r="r" b="b"/>
              <a:pathLst>
                <a:path w="977001" h="1354667">
                  <a:moveTo>
                    <a:pt x="0" y="0"/>
                  </a:moveTo>
                  <a:lnTo>
                    <a:pt x="977001" y="0"/>
                  </a:lnTo>
                  <a:lnTo>
                    <a:pt x="977001" y="1354667"/>
                  </a:lnTo>
                  <a:lnTo>
                    <a:pt x="0" y="1354667"/>
                  </a:lnTo>
                  <a:close/>
                </a:path>
              </a:pathLst>
            </a:custGeom>
            <a:solidFill>
              <a:srgbClr val="FFFDF2"/>
            </a:solidFill>
          </p:spPr>
        </p:sp>
        <p:sp>
          <p:nvSpPr>
            <p:cNvPr id="4" name="TextBox 4"/>
            <p:cNvSpPr txBox="1"/>
            <p:nvPr/>
          </p:nvSpPr>
          <p:spPr>
            <a:xfrm>
              <a:off x="0" y="-9525"/>
              <a:ext cx="977001" cy="1364192"/>
            </a:xfrm>
            <a:prstGeom prst="rect">
              <a:avLst/>
            </a:prstGeom>
          </p:spPr>
          <p:txBody>
            <a:bodyPr lIns="50800" tIns="50800" rIns="50800" bIns="50800" rtlCol="0" anchor="ctr"/>
            <a:lstStyle/>
            <a:p>
              <a:pPr algn="ctr">
                <a:lnSpc>
                  <a:spcPts val="2999"/>
                </a:lnSpc>
              </a:pPr>
              <a:endParaRPr/>
            </a:p>
          </p:txBody>
        </p:sp>
      </p:grpSp>
      <p:sp>
        <p:nvSpPr>
          <p:cNvPr id="5" name="Freeform 5"/>
          <p:cNvSpPr/>
          <p:nvPr/>
        </p:nvSpPr>
        <p:spPr>
          <a:xfrm flipH="1">
            <a:off x="13048300" y="-756044"/>
            <a:ext cx="6196355" cy="5057775"/>
          </a:xfrm>
          <a:custGeom>
            <a:avLst/>
            <a:gdLst/>
            <a:ahLst/>
            <a:cxnLst/>
            <a:rect l="l" t="t" r="r" b="b"/>
            <a:pathLst>
              <a:path w="6196355" h="5057775">
                <a:moveTo>
                  <a:pt x="6196355" y="0"/>
                </a:moveTo>
                <a:lnTo>
                  <a:pt x="0" y="0"/>
                </a:lnTo>
                <a:lnTo>
                  <a:pt x="0" y="5057775"/>
                </a:lnTo>
                <a:lnTo>
                  <a:pt x="6196355" y="5057775"/>
                </a:lnTo>
                <a:lnTo>
                  <a:pt x="6196355" y="0"/>
                </a:lnTo>
                <a:close/>
              </a:path>
            </a:pathLst>
          </a:custGeom>
          <a:blipFill>
            <a:blip r:embed="rId2"/>
            <a:stretch>
              <a:fillRect/>
            </a:stretch>
          </a:blipFill>
        </p:spPr>
      </p:sp>
      <p:grpSp>
        <p:nvGrpSpPr>
          <p:cNvPr id="6" name="Group 6"/>
          <p:cNvGrpSpPr/>
          <p:nvPr/>
        </p:nvGrpSpPr>
        <p:grpSpPr>
          <a:xfrm>
            <a:off x="0" y="0"/>
            <a:ext cx="4229100" cy="5143500"/>
            <a:chOff x="0" y="0"/>
            <a:chExt cx="1113837" cy="1354667"/>
          </a:xfrm>
        </p:grpSpPr>
        <p:sp>
          <p:nvSpPr>
            <p:cNvPr id="7" name="Freeform 7"/>
            <p:cNvSpPr/>
            <p:nvPr/>
          </p:nvSpPr>
          <p:spPr>
            <a:xfrm>
              <a:off x="0" y="0"/>
              <a:ext cx="1113837" cy="1354667"/>
            </a:xfrm>
            <a:custGeom>
              <a:avLst/>
              <a:gdLst/>
              <a:ahLst/>
              <a:cxnLst/>
              <a:rect l="l" t="t" r="r" b="b"/>
              <a:pathLst>
                <a:path w="1113837" h="1354667">
                  <a:moveTo>
                    <a:pt x="0" y="0"/>
                  </a:moveTo>
                  <a:lnTo>
                    <a:pt x="1113837" y="0"/>
                  </a:lnTo>
                  <a:lnTo>
                    <a:pt x="1113837" y="1354667"/>
                  </a:lnTo>
                  <a:lnTo>
                    <a:pt x="0" y="1354667"/>
                  </a:lnTo>
                  <a:close/>
                </a:path>
              </a:pathLst>
            </a:custGeom>
            <a:solidFill>
              <a:srgbClr val="FFFDF2"/>
            </a:solidFill>
          </p:spPr>
        </p:sp>
        <p:sp>
          <p:nvSpPr>
            <p:cNvPr id="8" name="TextBox 8"/>
            <p:cNvSpPr txBox="1"/>
            <p:nvPr/>
          </p:nvSpPr>
          <p:spPr>
            <a:xfrm>
              <a:off x="0" y="-9525"/>
              <a:ext cx="1113837" cy="1364192"/>
            </a:xfrm>
            <a:prstGeom prst="rect">
              <a:avLst/>
            </a:prstGeom>
          </p:spPr>
          <p:txBody>
            <a:bodyPr lIns="50800" tIns="50800" rIns="50800" bIns="50800" rtlCol="0" anchor="ctr"/>
            <a:lstStyle/>
            <a:p>
              <a:pPr algn="ctr">
                <a:lnSpc>
                  <a:spcPts val="2999"/>
                </a:lnSpc>
              </a:pPr>
              <a:endParaRPr/>
            </a:p>
          </p:txBody>
        </p:sp>
      </p:grpSp>
      <p:sp>
        <p:nvSpPr>
          <p:cNvPr id="9" name="Freeform 9"/>
          <p:cNvSpPr/>
          <p:nvPr/>
        </p:nvSpPr>
        <p:spPr>
          <a:xfrm>
            <a:off x="-2000250" y="-20574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Freeform 10"/>
          <p:cNvSpPr/>
          <p:nvPr/>
        </p:nvSpPr>
        <p:spPr>
          <a:xfrm>
            <a:off x="16347221" y="9069197"/>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1" name="Group 11"/>
          <p:cNvGrpSpPr/>
          <p:nvPr/>
        </p:nvGrpSpPr>
        <p:grpSpPr>
          <a:xfrm>
            <a:off x="15716250" y="1028700"/>
            <a:ext cx="3086100" cy="189103"/>
            <a:chOff x="0" y="0"/>
            <a:chExt cx="812800" cy="49805"/>
          </a:xfrm>
        </p:grpSpPr>
        <p:sp>
          <p:nvSpPr>
            <p:cNvPr id="12" name="Freeform 12"/>
            <p:cNvSpPr/>
            <p:nvPr/>
          </p:nvSpPr>
          <p:spPr>
            <a:xfrm>
              <a:off x="0" y="0"/>
              <a:ext cx="812800" cy="49805"/>
            </a:xfrm>
            <a:custGeom>
              <a:avLst/>
              <a:gdLst/>
              <a:ahLst/>
              <a:cxnLst/>
              <a:rect l="l" t="t" r="r" b="b"/>
              <a:pathLst>
                <a:path w="812800" h="49805">
                  <a:moveTo>
                    <a:pt x="0" y="0"/>
                  </a:moveTo>
                  <a:lnTo>
                    <a:pt x="812800" y="0"/>
                  </a:lnTo>
                  <a:lnTo>
                    <a:pt x="812800" y="49805"/>
                  </a:lnTo>
                  <a:lnTo>
                    <a:pt x="0" y="49805"/>
                  </a:lnTo>
                  <a:close/>
                </a:path>
              </a:pathLst>
            </a:custGeom>
            <a:solidFill>
              <a:srgbClr val="FFFDF2"/>
            </a:solidFill>
          </p:spPr>
        </p:sp>
        <p:sp>
          <p:nvSpPr>
            <p:cNvPr id="13" name="TextBox 13"/>
            <p:cNvSpPr txBox="1"/>
            <p:nvPr/>
          </p:nvSpPr>
          <p:spPr>
            <a:xfrm>
              <a:off x="0" y="-9525"/>
              <a:ext cx="812800" cy="59330"/>
            </a:xfrm>
            <a:prstGeom prst="rect">
              <a:avLst/>
            </a:prstGeom>
          </p:spPr>
          <p:txBody>
            <a:bodyPr lIns="50800" tIns="50800" rIns="50800" bIns="50800" rtlCol="0" anchor="ctr"/>
            <a:lstStyle/>
            <a:p>
              <a:pPr algn="ctr">
                <a:lnSpc>
                  <a:spcPts val="2999"/>
                </a:lnSpc>
              </a:pPr>
              <a:endParaRPr/>
            </a:p>
          </p:txBody>
        </p:sp>
      </p:grpSp>
      <p:grpSp>
        <p:nvGrpSpPr>
          <p:cNvPr id="14" name="Group 14"/>
          <p:cNvGrpSpPr/>
          <p:nvPr/>
        </p:nvGrpSpPr>
        <p:grpSpPr>
          <a:xfrm>
            <a:off x="2942729" y="9069197"/>
            <a:ext cx="3086100" cy="189103"/>
            <a:chOff x="0" y="0"/>
            <a:chExt cx="812800" cy="49805"/>
          </a:xfrm>
        </p:grpSpPr>
        <p:sp>
          <p:nvSpPr>
            <p:cNvPr id="15" name="Freeform 15"/>
            <p:cNvSpPr/>
            <p:nvPr/>
          </p:nvSpPr>
          <p:spPr>
            <a:xfrm>
              <a:off x="0" y="0"/>
              <a:ext cx="812800" cy="49805"/>
            </a:xfrm>
            <a:custGeom>
              <a:avLst/>
              <a:gdLst/>
              <a:ahLst/>
              <a:cxnLst/>
              <a:rect l="l" t="t" r="r" b="b"/>
              <a:pathLst>
                <a:path w="812800" h="49805">
                  <a:moveTo>
                    <a:pt x="0" y="0"/>
                  </a:moveTo>
                  <a:lnTo>
                    <a:pt x="812800" y="0"/>
                  </a:lnTo>
                  <a:lnTo>
                    <a:pt x="812800" y="49805"/>
                  </a:lnTo>
                  <a:lnTo>
                    <a:pt x="0" y="49805"/>
                  </a:lnTo>
                  <a:close/>
                </a:path>
              </a:pathLst>
            </a:custGeom>
            <a:solidFill>
              <a:srgbClr val="FFFDF2"/>
            </a:solidFill>
          </p:spPr>
        </p:sp>
        <p:sp>
          <p:nvSpPr>
            <p:cNvPr id="16" name="TextBox 16"/>
            <p:cNvSpPr txBox="1"/>
            <p:nvPr/>
          </p:nvSpPr>
          <p:spPr>
            <a:xfrm>
              <a:off x="0" y="-9525"/>
              <a:ext cx="812800" cy="59330"/>
            </a:xfrm>
            <a:prstGeom prst="rect">
              <a:avLst/>
            </a:prstGeom>
          </p:spPr>
          <p:txBody>
            <a:bodyPr lIns="50800" tIns="50800" rIns="50800" bIns="50800" rtlCol="0" anchor="ctr"/>
            <a:lstStyle/>
            <a:p>
              <a:pPr algn="ctr">
                <a:lnSpc>
                  <a:spcPts val="2999"/>
                </a:lnSpc>
              </a:pPr>
              <a:endParaRPr/>
            </a:p>
          </p:txBody>
        </p:sp>
      </p:grpSp>
      <p:sp>
        <p:nvSpPr>
          <p:cNvPr id="17" name="TextBox 17"/>
          <p:cNvSpPr txBox="1"/>
          <p:nvPr/>
        </p:nvSpPr>
        <p:spPr>
          <a:xfrm>
            <a:off x="750929" y="1296593"/>
            <a:ext cx="6474891" cy="933450"/>
          </a:xfrm>
          <a:prstGeom prst="rect">
            <a:avLst/>
          </a:prstGeom>
        </p:spPr>
        <p:txBody>
          <a:bodyPr lIns="0" tIns="0" rIns="0" bIns="0" rtlCol="0" anchor="t">
            <a:spAutoFit/>
          </a:bodyPr>
          <a:lstStyle/>
          <a:p>
            <a:pPr algn="l">
              <a:lnSpc>
                <a:spcPts val="7200"/>
              </a:lnSpc>
            </a:pPr>
            <a:r>
              <a:rPr lang="en-US" sz="6000" b="1" spc="600">
                <a:solidFill>
                  <a:srgbClr val="8363B8"/>
                </a:solidFill>
                <a:latin typeface="Barlow Ultra-Bold"/>
                <a:ea typeface="Barlow Ultra-Bold"/>
                <a:cs typeface="Barlow Ultra-Bold"/>
                <a:sym typeface="Barlow Ultra-Bold"/>
              </a:rPr>
              <a:t> CONCLUSION:</a:t>
            </a:r>
          </a:p>
        </p:txBody>
      </p:sp>
      <p:sp>
        <p:nvSpPr>
          <p:cNvPr id="18" name="TextBox 18"/>
          <p:cNvSpPr txBox="1"/>
          <p:nvPr/>
        </p:nvSpPr>
        <p:spPr>
          <a:xfrm>
            <a:off x="1075031" y="2571750"/>
            <a:ext cx="10938012" cy="2394182"/>
          </a:xfrm>
          <a:prstGeom prst="rect">
            <a:avLst/>
          </a:prstGeom>
        </p:spPr>
        <p:txBody>
          <a:bodyPr lIns="0" tIns="0" rIns="0" bIns="0" rtlCol="0" anchor="t">
            <a:spAutoFit/>
          </a:bodyPr>
          <a:lstStyle/>
          <a:p>
            <a:pPr algn="just">
              <a:lnSpc>
                <a:spcPts val="2667"/>
              </a:lnSpc>
            </a:pPr>
            <a:r>
              <a:rPr lang="en-US" sz="2222" dirty="0">
                <a:solidFill>
                  <a:srgbClr val="000000"/>
                </a:solidFill>
                <a:latin typeface="Barlow"/>
                <a:ea typeface="Barlow"/>
                <a:cs typeface="Barlow"/>
                <a:sym typeface="Barlow"/>
              </a:rPr>
              <a:t>The Document Management System (DMS) provides a structured and efficient method for storing, organizing, retrieving, and securing digital documents. It reduces dependency on paper, enhances collaboration, and ensures quick access to information, thereby improving overall organizational productivity. By implementing features such as version control, access permissions, and secure storage, the system helps maintain data integrity and confidentiality. The DMS proves to be a scalable and adaptable solution across various industries including education, healthcare, legal, and corporate sectors.</a:t>
            </a:r>
          </a:p>
        </p:txBody>
      </p:sp>
      <p:sp>
        <p:nvSpPr>
          <p:cNvPr id="19" name="TextBox 19"/>
          <p:cNvSpPr txBox="1"/>
          <p:nvPr/>
        </p:nvSpPr>
        <p:spPr>
          <a:xfrm>
            <a:off x="1075031" y="5476875"/>
            <a:ext cx="12449639" cy="4116512"/>
          </a:xfrm>
          <a:prstGeom prst="rect">
            <a:avLst/>
          </a:prstGeom>
        </p:spPr>
        <p:txBody>
          <a:bodyPr lIns="0" tIns="0" rIns="0" bIns="0" rtlCol="0" anchor="t">
            <a:spAutoFit/>
          </a:bodyPr>
          <a:lstStyle/>
          <a:p>
            <a:pPr algn="l">
              <a:lnSpc>
                <a:spcPts val="3599"/>
              </a:lnSpc>
              <a:spcBef>
                <a:spcPct val="0"/>
              </a:spcBef>
            </a:pPr>
            <a:r>
              <a:rPr lang="en-US" sz="2999" b="1" dirty="0">
                <a:solidFill>
                  <a:srgbClr val="000000"/>
                </a:solidFill>
                <a:latin typeface="Barlow Bold"/>
                <a:ea typeface="Barlow Bold"/>
                <a:cs typeface="Barlow Bold"/>
                <a:sym typeface="Barlow Bold"/>
              </a:rPr>
              <a:t>Future work: </a:t>
            </a:r>
          </a:p>
          <a:p>
            <a:pPr marL="838199" lvl="1" indent="-514350" algn="l">
              <a:lnSpc>
                <a:spcPts val="3599"/>
              </a:lnSpc>
              <a:spcBef>
                <a:spcPct val="0"/>
              </a:spcBef>
              <a:buFont typeface="+mj-lt"/>
              <a:buAutoNum type="arabicPeriod"/>
            </a:pPr>
            <a:r>
              <a:rPr lang="en-US" sz="2999" b="1" dirty="0">
                <a:solidFill>
                  <a:srgbClr val="000000"/>
                </a:solidFill>
                <a:latin typeface="Barlow"/>
                <a:ea typeface="Barlow"/>
                <a:cs typeface="Barlow"/>
                <a:sym typeface="Barlow"/>
              </a:rPr>
              <a:t>AI Integration: </a:t>
            </a:r>
            <a:r>
              <a:rPr lang="en-US" sz="2999" dirty="0">
                <a:solidFill>
                  <a:srgbClr val="000000"/>
                </a:solidFill>
                <a:latin typeface="Barlow"/>
                <a:ea typeface="Barlow"/>
                <a:cs typeface="Barlow"/>
                <a:sym typeface="Barlow"/>
              </a:rPr>
              <a:t>Incorporating AI and machine learning for smart document categorization, metadata extraction, and predictive search capabilities.</a:t>
            </a:r>
          </a:p>
          <a:p>
            <a:pPr marL="838199" lvl="1" indent="-514350" algn="l">
              <a:lnSpc>
                <a:spcPts val="3599"/>
              </a:lnSpc>
              <a:spcBef>
                <a:spcPct val="0"/>
              </a:spcBef>
              <a:buFont typeface="+mj-lt"/>
              <a:buAutoNum type="arabicPeriod"/>
            </a:pPr>
            <a:r>
              <a:rPr lang="en-US" sz="2999" b="1" dirty="0">
                <a:solidFill>
                  <a:srgbClr val="000000"/>
                </a:solidFill>
                <a:latin typeface="Barlow"/>
                <a:ea typeface="Barlow"/>
                <a:cs typeface="Barlow"/>
                <a:sym typeface="Barlow"/>
              </a:rPr>
              <a:t>Cloud-Based DMS: </a:t>
            </a:r>
            <a:r>
              <a:rPr lang="en-US" sz="2999" dirty="0">
                <a:solidFill>
                  <a:srgbClr val="000000"/>
                </a:solidFill>
                <a:latin typeface="Barlow"/>
                <a:ea typeface="Barlow"/>
                <a:cs typeface="Barlow"/>
                <a:sym typeface="Barlow"/>
              </a:rPr>
              <a:t>Expanding to cloud infrastructure for greater accessibility, collaboration, and scalability.</a:t>
            </a:r>
          </a:p>
          <a:p>
            <a:pPr marL="838199" lvl="1" indent="-514350" algn="l">
              <a:lnSpc>
                <a:spcPts val="3599"/>
              </a:lnSpc>
              <a:spcBef>
                <a:spcPct val="0"/>
              </a:spcBef>
              <a:buFont typeface="+mj-lt"/>
              <a:buAutoNum type="arabicPeriod"/>
            </a:pPr>
            <a:r>
              <a:rPr lang="en-US" sz="2999" b="1" dirty="0">
                <a:solidFill>
                  <a:srgbClr val="000000"/>
                </a:solidFill>
                <a:latin typeface="Barlow"/>
                <a:ea typeface="Barlow"/>
                <a:cs typeface="Barlow"/>
                <a:sym typeface="Barlow"/>
              </a:rPr>
              <a:t>Blockchain for Security</a:t>
            </a:r>
            <a:r>
              <a:rPr lang="en-US" sz="2999" dirty="0">
                <a:solidFill>
                  <a:srgbClr val="000000"/>
                </a:solidFill>
                <a:latin typeface="Barlow"/>
                <a:ea typeface="Barlow"/>
                <a:cs typeface="Barlow"/>
                <a:sym typeface="Barlow"/>
              </a:rPr>
              <a:t>: Using blockchain to ensure document authenticity, transparency, and tamper-proof records.</a:t>
            </a:r>
          </a:p>
          <a:p>
            <a:pPr algn="l">
              <a:lnSpc>
                <a:spcPts val="3599"/>
              </a:lnSpc>
              <a:spcBef>
                <a:spcPct val="0"/>
              </a:spcBef>
            </a:pPr>
            <a:endParaRPr lang="en-US" sz="2999" dirty="0">
              <a:solidFill>
                <a:srgbClr val="000000"/>
              </a:solidFill>
              <a:latin typeface="Barlow"/>
              <a:ea typeface="Barlow"/>
              <a:cs typeface="Barlow"/>
              <a:sym typeface="Barlow"/>
            </a:endParaRPr>
          </a:p>
        </p:txBody>
      </p:sp>
      <p:sp>
        <p:nvSpPr>
          <p:cNvPr id="20" name="Freeform 20"/>
          <p:cNvSpPr/>
          <p:nvPr/>
        </p:nvSpPr>
        <p:spPr>
          <a:xfrm>
            <a:off x="13657233" y="5807805"/>
            <a:ext cx="2226030" cy="2284173"/>
          </a:xfrm>
          <a:custGeom>
            <a:avLst/>
            <a:gdLst/>
            <a:ahLst/>
            <a:cxnLst/>
            <a:rect l="l" t="t" r="r" b="b"/>
            <a:pathLst>
              <a:path w="2226030" h="2284173">
                <a:moveTo>
                  <a:pt x="0" y="0"/>
                </a:moveTo>
                <a:lnTo>
                  <a:pt x="2226030" y="0"/>
                </a:lnTo>
                <a:lnTo>
                  <a:pt x="2226030" y="2284173"/>
                </a:lnTo>
                <a:lnTo>
                  <a:pt x="0" y="22841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EAFF"/>
        </a:solidFill>
        <a:effectLst/>
      </p:bgPr>
    </p:bg>
    <p:spTree>
      <p:nvGrpSpPr>
        <p:cNvPr id="1" name=""/>
        <p:cNvGrpSpPr/>
        <p:nvPr/>
      </p:nvGrpSpPr>
      <p:grpSpPr>
        <a:xfrm>
          <a:off x="0" y="0"/>
          <a:ext cx="0" cy="0"/>
          <a:chOff x="0" y="0"/>
          <a:chExt cx="0" cy="0"/>
        </a:xfrm>
      </p:grpSpPr>
      <p:sp>
        <p:nvSpPr>
          <p:cNvPr id="2" name="Freeform 2"/>
          <p:cNvSpPr/>
          <p:nvPr/>
        </p:nvSpPr>
        <p:spPr>
          <a:xfrm>
            <a:off x="-729898" y="6359854"/>
            <a:ext cx="4649563" cy="4913673"/>
          </a:xfrm>
          <a:custGeom>
            <a:avLst/>
            <a:gdLst/>
            <a:ahLst/>
            <a:cxnLst/>
            <a:rect l="l" t="t" r="r" b="b"/>
            <a:pathLst>
              <a:path w="4649563" h="4913673">
                <a:moveTo>
                  <a:pt x="0" y="0"/>
                </a:moveTo>
                <a:lnTo>
                  <a:pt x="4649563" y="0"/>
                </a:lnTo>
                <a:lnTo>
                  <a:pt x="4649563" y="4913674"/>
                </a:lnTo>
                <a:lnTo>
                  <a:pt x="0" y="4913674"/>
                </a:lnTo>
                <a:lnTo>
                  <a:pt x="0" y="0"/>
                </a:lnTo>
                <a:close/>
              </a:path>
            </a:pathLst>
          </a:custGeom>
          <a:blipFill>
            <a:blip r:embed="rId2"/>
            <a:stretch>
              <a:fillRect/>
            </a:stretch>
          </a:blipFill>
        </p:spPr>
      </p:sp>
      <p:sp>
        <p:nvSpPr>
          <p:cNvPr id="3" name="Freeform 3"/>
          <p:cNvSpPr/>
          <p:nvPr/>
        </p:nvSpPr>
        <p:spPr>
          <a:xfrm flipH="1" flipV="1">
            <a:off x="14368335" y="-986528"/>
            <a:ext cx="4649563" cy="4913673"/>
          </a:xfrm>
          <a:custGeom>
            <a:avLst/>
            <a:gdLst/>
            <a:ahLst/>
            <a:cxnLst/>
            <a:rect l="l" t="t" r="r" b="b"/>
            <a:pathLst>
              <a:path w="4649563" h="4913673">
                <a:moveTo>
                  <a:pt x="4649563" y="4913674"/>
                </a:moveTo>
                <a:lnTo>
                  <a:pt x="0" y="4913674"/>
                </a:lnTo>
                <a:lnTo>
                  <a:pt x="0" y="0"/>
                </a:lnTo>
                <a:lnTo>
                  <a:pt x="4649563" y="0"/>
                </a:lnTo>
                <a:lnTo>
                  <a:pt x="4649563" y="4913674"/>
                </a:lnTo>
                <a:close/>
              </a:path>
            </a:pathLst>
          </a:custGeom>
          <a:blipFill>
            <a:blip r:embed="rId2"/>
            <a:stretch>
              <a:fillRect/>
            </a:stretch>
          </a:blipFill>
        </p:spPr>
      </p:sp>
      <p:sp>
        <p:nvSpPr>
          <p:cNvPr id="4" name="TextBox 4"/>
          <p:cNvSpPr txBox="1"/>
          <p:nvPr/>
        </p:nvSpPr>
        <p:spPr>
          <a:xfrm>
            <a:off x="4447459" y="3153729"/>
            <a:ext cx="9393083" cy="1326514"/>
          </a:xfrm>
          <a:prstGeom prst="rect">
            <a:avLst/>
          </a:prstGeom>
        </p:spPr>
        <p:txBody>
          <a:bodyPr lIns="0" tIns="0" rIns="0" bIns="0" rtlCol="0" anchor="t">
            <a:spAutoFit/>
          </a:bodyPr>
          <a:lstStyle/>
          <a:p>
            <a:pPr algn="ctr">
              <a:lnSpc>
                <a:spcPts val="10444"/>
              </a:lnSpc>
            </a:pPr>
            <a:r>
              <a:rPr lang="en-US" sz="8704" b="1" spc="870">
                <a:solidFill>
                  <a:srgbClr val="8363B8"/>
                </a:solidFill>
                <a:latin typeface="Barlow Ultra-Bold"/>
                <a:ea typeface="Barlow Ultra-Bold"/>
                <a:cs typeface="Barlow Ultra-Bold"/>
                <a:sym typeface="Barlow Ultra-Bold"/>
              </a:rPr>
              <a:t>THANK YOU </a:t>
            </a:r>
          </a:p>
        </p:txBody>
      </p:sp>
      <p:grpSp>
        <p:nvGrpSpPr>
          <p:cNvPr id="5" name="Group 5"/>
          <p:cNvGrpSpPr/>
          <p:nvPr/>
        </p:nvGrpSpPr>
        <p:grpSpPr>
          <a:xfrm>
            <a:off x="0" y="0"/>
            <a:ext cx="5435464" cy="1028700"/>
            <a:chOff x="0" y="0"/>
            <a:chExt cx="1431562" cy="270933"/>
          </a:xfrm>
        </p:grpSpPr>
        <p:sp>
          <p:nvSpPr>
            <p:cNvPr id="6" name="Freeform 6"/>
            <p:cNvSpPr/>
            <p:nvPr/>
          </p:nvSpPr>
          <p:spPr>
            <a:xfrm>
              <a:off x="0" y="0"/>
              <a:ext cx="1431562" cy="270933"/>
            </a:xfrm>
            <a:custGeom>
              <a:avLst/>
              <a:gdLst/>
              <a:ahLst/>
              <a:cxnLst/>
              <a:rect l="l" t="t" r="r" b="b"/>
              <a:pathLst>
                <a:path w="1431562" h="270933">
                  <a:moveTo>
                    <a:pt x="0" y="0"/>
                  </a:moveTo>
                  <a:lnTo>
                    <a:pt x="1431562" y="0"/>
                  </a:lnTo>
                  <a:lnTo>
                    <a:pt x="1431562" y="270933"/>
                  </a:lnTo>
                  <a:lnTo>
                    <a:pt x="0" y="270933"/>
                  </a:lnTo>
                  <a:close/>
                </a:path>
              </a:pathLst>
            </a:custGeom>
            <a:solidFill>
              <a:srgbClr val="FFFDF2"/>
            </a:solidFill>
          </p:spPr>
        </p:sp>
        <p:sp>
          <p:nvSpPr>
            <p:cNvPr id="7" name="TextBox 7"/>
            <p:cNvSpPr txBox="1"/>
            <p:nvPr/>
          </p:nvSpPr>
          <p:spPr>
            <a:xfrm>
              <a:off x="0" y="-9525"/>
              <a:ext cx="1431562" cy="280458"/>
            </a:xfrm>
            <a:prstGeom prst="rect">
              <a:avLst/>
            </a:prstGeom>
          </p:spPr>
          <p:txBody>
            <a:bodyPr lIns="50800" tIns="50800" rIns="50800" bIns="50800" rtlCol="0" anchor="ctr"/>
            <a:lstStyle/>
            <a:p>
              <a:pPr algn="ctr">
                <a:lnSpc>
                  <a:spcPts val="2999"/>
                </a:lnSpc>
              </a:pPr>
              <a:endParaRPr/>
            </a:p>
          </p:txBody>
        </p:sp>
      </p:grpSp>
      <p:grpSp>
        <p:nvGrpSpPr>
          <p:cNvPr id="8" name="Group 8"/>
          <p:cNvGrpSpPr/>
          <p:nvPr/>
        </p:nvGrpSpPr>
        <p:grpSpPr>
          <a:xfrm>
            <a:off x="12852536" y="9258300"/>
            <a:ext cx="5435464" cy="1028700"/>
            <a:chOff x="0" y="0"/>
            <a:chExt cx="1431562" cy="270933"/>
          </a:xfrm>
        </p:grpSpPr>
        <p:sp>
          <p:nvSpPr>
            <p:cNvPr id="9" name="Freeform 9"/>
            <p:cNvSpPr/>
            <p:nvPr/>
          </p:nvSpPr>
          <p:spPr>
            <a:xfrm>
              <a:off x="0" y="0"/>
              <a:ext cx="1431562" cy="270933"/>
            </a:xfrm>
            <a:custGeom>
              <a:avLst/>
              <a:gdLst/>
              <a:ahLst/>
              <a:cxnLst/>
              <a:rect l="l" t="t" r="r" b="b"/>
              <a:pathLst>
                <a:path w="1431562" h="270933">
                  <a:moveTo>
                    <a:pt x="0" y="0"/>
                  </a:moveTo>
                  <a:lnTo>
                    <a:pt x="1431562" y="0"/>
                  </a:lnTo>
                  <a:lnTo>
                    <a:pt x="1431562" y="270933"/>
                  </a:lnTo>
                  <a:lnTo>
                    <a:pt x="0" y="270933"/>
                  </a:lnTo>
                  <a:close/>
                </a:path>
              </a:pathLst>
            </a:custGeom>
            <a:solidFill>
              <a:srgbClr val="FFFDF2"/>
            </a:solidFill>
          </p:spPr>
        </p:sp>
        <p:sp>
          <p:nvSpPr>
            <p:cNvPr id="10" name="TextBox 10"/>
            <p:cNvSpPr txBox="1"/>
            <p:nvPr/>
          </p:nvSpPr>
          <p:spPr>
            <a:xfrm>
              <a:off x="0" y="-9525"/>
              <a:ext cx="1431562" cy="280458"/>
            </a:xfrm>
            <a:prstGeom prst="rect">
              <a:avLst/>
            </a:prstGeom>
          </p:spPr>
          <p:txBody>
            <a:bodyPr lIns="50800" tIns="50800" rIns="50800" bIns="50800" rtlCol="0" anchor="ctr"/>
            <a:lstStyle/>
            <a:p>
              <a:pPr algn="ctr">
                <a:lnSpc>
                  <a:spcPts val="2999"/>
                </a:lnSpc>
              </a:pPr>
              <a:endParaRPr/>
            </a:p>
          </p:txBody>
        </p:sp>
      </p:grpSp>
      <p:sp>
        <p:nvSpPr>
          <p:cNvPr id="11" name="Freeform 11"/>
          <p:cNvSpPr/>
          <p:nvPr/>
        </p:nvSpPr>
        <p:spPr>
          <a:xfrm>
            <a:off x="3378064" y="-20574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a:off x="10795136" y="82296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688</Words>
  <Application>Microsoft Office PowerPoint</Application>
  <PresentationFormat>Custom</PresentationFormat>
  <Paragraphs>56</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Barlow Ultra-Bold</vt:lpstr>
      <vt:lpstr>Arial</vt:lpstr>
      <vt:lpstr>Barlow Bold</vt:lpstr>
      <vt:lpstr>Barlow</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Purple Illustration Using SWOT Analysis in Business Presentation</dc:title>
  <cp:lastModifiedBy>Monish Kanna</cp:lastModifiedBy>
  <cp:revision>2</cp:revision>
  <dcterms:created xsi:type="dcterms:W3CDTF">2006-08-16T00:00:00Z</dcterms:created>
  <dcterms:modified xsi:type="dcterms:W3CDTF">2025-06-02T04:12:49Z</dcterms:modified>
  <dc:identifier>DAGpKy6eF9w</dc:identifier>
</cp:coreProperties>
</file>